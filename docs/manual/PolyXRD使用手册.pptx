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8" Type="http://schemas.openxmlformats.org/officeDocument/2006/relationships/viewProps" Target="viewProps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Color: '#0B3C6E', position: 'relative', fontFamily: &quot;'Source Han Sans SC','Microsoft YaHei',sans-serif&quot; }}&gt;&#10;  &lt;Image src=&quot;assets/01_main_data_empty.png&quot; style={{ position: 'absolute', left: 0, top: 0, width: 1280, height: 720, objectFit: 'cover' }} /&gt;&#10;  &lt;Box style={{ position: 'absolute', left: 0, top: 0, width: 1280, height: 720, backgroundColor: 'rgba(6,30,60,0.66)' }} /&gt;&#10;  &lt;Box style={{ position: 'absolute', left: 80, top: 230, width: 820, flexDirection: 'column' }}&gt;&#10;    &lt;Text style={{ fontSize: 26, color: '#8FD4A8', letterSpacing: 8, fontWeight: 'bold' }}&gt;POLYXRD · XRD 物相分析软件&lt;/Text&gt;&#10;    &lt;Text style={{ fontSize: 76, color: '#FFFFFF', fontWeight: 'bold', marginTop: 18 }}&gt;软件使用手册&lt;/Text&gt;&#10;    &lt;Text style={{ fontSize: 24, color: 'rgba(255,255,255,0.88)', marginTop: 22 }}&gt;v0.15.0 · 从数据装载到物相结构精修的一站式工作台&lt;/Text&gt;&#10;  &lt;/Box&gt;&#10;  &lt;Box style={{ position: 'absolute', left: 80, bottom: 44, width: 400 }}&gt;&#10;    &lt;Text style={{ fontSize: 14, color: 'rgba(255,255,255,0.65)' }}&gt;PolyXRD 项目组 · 2026 年 9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12325" r="0" b="12325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E3C">
              <a:alpha val="66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190750"/>
            <a:ext cx="781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 spc="600">
                <a:solidFill>
                  <a:srgbClr val="8FD4A8"/>
                </a:solidFill>
                <a:latin typeface="Source Han Sans SC"/>
                <a:ea typeface="Source Han Sans SC"/>
              </a:rPr>
              <a:t>POLYXRD · XRD </a:t>
            </a:r>
            <a:r>
              <a:rPr lang="zh-CN" sz="1950" b="1" spc="600">
                <a:solidFill>
                  <a:srgbClr val="8FD4A8"/>
                </a:solidFill>
                <a:latin typeface="Source Han Sans SC"/>
                <a:ea typeface="Source Han Sans SC"/>
              </a:rPr>
              <a:t>物相分析软件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667000"/>
            <a:ext cx="78105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FFFFFF"/>
                </a:solidFill>
                <a:latin typeface="Source Han Sans SC"/>
                <a:ea typeface="Source Han Sans SC"/>
              </a:rPr>
              <a:t>软件使用手册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752850"/>
            <a:ext cx="7810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v0.15.0 · </a:t>
            </a:r>
            <a:r>
              <a:rPr lang="zh-CN" sz="1800">
                <a:solidFill>
                  <a:srgbClr val="FFFFFF">
                    <a:alpha val="88000"/>
                  </a:srgbClr>
                </a:solidFill>
                <a:latin typeface="Source Han Sans SC"/>
                <a:ea typeface="Source Han Sans SC"/>
              </a:rPr>
              <a:t>从数据装载到物相结构精修的一站式工作台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627697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PolyXRD </a:t>
            </a:r>
            <a:r>
              <a:rPr lang="zh-CN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项目组</a:t>
            </a:r>
            <a:r>
              <a:rPr lang="en-US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 · 2026 </a:t>
            </a:r>
            <a:r>
              <a:rPr lang="zh-CN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 9 </a:t>
            </a:r>
            <a:r>
              <a:rPr lang="zh-CN" sz="105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 }}&gt;&#10;    &lt;Text style={{ fontSize: 36, fontWeight: 'bold', color: '#0B3C6E' }}&gt;目录&lt;/Text&gt;&#10;  &lt;/Box&gt;&#10;  &lt;Box style={{ flexDirection: 'row', height: 540 }}&gt;&#10;    &lt;Box style={{ width: 380, height: 480, backgroundColor: '#0B3C6E', borderRadius: 12, padding: 40, flexDirection: 'column', justifyContent: 'space-between' }}&gt;&#10;      &lt;Text style={{ fontSize: 30, fontWeight: 'bold', color: '#FFFFFF' }}&gt;三章内容&lt;/Text&gt;&#10;      &lt;Text style={{ fontSize: 20, color: 'rgba(255,255,255,0.85)', lineHeight: 1.6 }}&gt;从第一次装载数据，到读懂精修指标背后的原理——按章节顺序阅读即可完整掌握 PolyXRD。&lt;/Text&gt;&#10;    &lt;/Box&gt;&#10;    &lt;Box style={{ flex: 1, paddingLeft: 50, paddingRight: 60, paddingTop: 10, flexDirection: 'column', gap: 28 }}&gt;&#10;      &lt;Box style={{ flexDirection: 'row', alignItems: 'center', gap: 24 }}&gt;&#10;        &lt;Text style={{ fontSize: 56, fontWeight: 'bold', color: '#2F8F4E' }}&gt;01&lt;/Text&gt;&#10;        &lt;Box style={{ flexDirection: 'column', width: 600 }}&gt;&#10;          &lt;Text style={{ fontSize: 24, fontWeight: 'bold', color: '#0B3C6E' }}&gt;快速上手&lt;/Text&gt;&#10;          &lt;Text style={{ fontSize: 18, color: '#333333', lineHeight: 1.5, marginTop: 6 }}&gt;主界面与数据装载、SNIP 扣背景与二阶导数找峰、内置库物相鉴定——三步完成一次完整的定性分析。&lt;/Text&gt;&#10;        &lt;/Box&gt;&#10;      &lt;/Box&gt;&#10;      &lt;Box style={{ flexDirection: 'row', alignItems: 'center', gap: 24 }}&gt;&#10;        &lt;Text style={{ fontSize: 56, fontWeight: 'bold', color: '#2F8F4E' }}&gt;02&lt;/Text&gt;&#10;        &lt;Box style={{ flexDirection: 'column', width: 600 }}&gt;&#10;          &lt;Text style={{ fontSize: 24, fontWeight: 'bold', color: '#0B3C6E' }}&gt;结构精修与产出&lt;/Text&gt;&#10;          &lt;Text style={{ fontSize: 18, color: '#333333', lineHeight: 1.5, marginTop: 6 }}&gt;内置引擎与 GSAS-II / MAUD / FullProf 四引擎体系、分步精修向导、Rwp 指标解读与一键报告导出。&lt;/Text&gt;&#10;        &lt;/Box&gt;&#10;      &lt;/Box&gt;&#10;      &lt;Box style={{ flexDirection: 'row', alignItems: 'center', gap: 24 }}&gt;&#10;        &lt;Text style={{ fontSize: 56, fontWeight: 'bold', color: '#2F8F4E' }}&gt;03&lt;/Text&gt;&#10;        &lt;Box style={{ flexDirection: 'column', width: 600 }}&gt;&#10;          &lt;Text style={{ fontSize: 24, fontWeight: 'bold', color: '#0B3C6E' }}&gt;原理与支持&lt;/Text&gt;&#10;          &lt;Text style={{ fontSize: 18, color: '#333333', lineHeight: 1.5, marginTop: 6 }}&gt;Rietveld 方法的最小二乘本质、五个衍射数据库的分工，以及外部引擎红灯等高频问题的处理办法。&lt;/Text&gt;&#10;        &lt;/Box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85800" cy="952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0" y="11430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1000" y="15240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三章内容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0" y="4229100"/>
            <a:ext cx="28575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从第一次装载数据，到读懂精修指标背后的原理——按章节顺序阅读即可完整掌握</a:t>
            </a:r>
            <a:r>
              <a:rPr lang="en-US" sz="15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PolyXRD</a:t>
            </a:r>
            <a:r>
              <a:rPr lang="zh-CN" sz="15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095750" y="139065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F8F4E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991100" y="1238250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快速上手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991100" y="1571625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主界面与数据装载、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SNIP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扣背景与二阶导数找峰、内置库物相鉴定——三步完成一次完整的定性分析。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095750" y="260985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F8F4E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991100" y="2457450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结构精修与产出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991100" y="2790825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内置引擎与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GSAS-II / MAUD / FullProf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四引擎体系、分步精修向导、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Rwp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指标解读与一键报告导出。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095750" y="382905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F8F4E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3676650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原理与支持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991100" y="4010025"/>
            <a:ext cx="5715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Rietveld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方法的最小二乘本质、五个衍射数据库的分工，以及外部引擎红灯等高频问题的处理办法。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1280, height: 720, backgroundColor: '#0B3C6E', backgroundImage: 'linear-gradient(135deg, #0B3C6E 0%, #1A5FA0 100%)', fontFamily: &quot;'Source Han Sans SC','Microsoft YaHei',sans-serif&quot;, position: 'relative' }}&gt;&#10;  &lt;Box style={{ position: 'absolute', left: 0, top: 250, width: 1280, flexDirection: 'column', alignItems: 'center' }}&gt;&#10;    &lt;Text style={{ fontSize: 140, fontWeight: 'bold', color: 'rgba(255,255,255,0.18)' }}&gt;01&lt;/Text&gt;&#10;    &lt;Text style={{ fontSize: 64, fontWeight: 'bold', color: '#FFFFFF', marginTop: -40 }}&gt;快速上手&lt;/Text&gt;&#10;    &lt;Text style={{ fontSize: 22, color: 'rgba(255,255,255,0.8)', marginTop: 24 }}&gt;装载 · 找峰 · 鉴定——三步完成一次物相定性分析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3C6E"/>
              </a:gs>
              <a:gs pos="100000">
                <a:srgbClr val="1A5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276850" y="2381250"/>
            <a:ext cx="1647825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876800" y="3600450"/>
            <a:ext cx="24384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快速上手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0" y="4562475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装载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找峰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鉴定——三步完成一次物相定性分析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5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主界面与数据装载&lt;/Text&gt;&#10;    &lt;Text style={{ fontSize: 16, color: '#8A94A6' }}&gt;第一章 · 快速上手&lt;/Text&gt;&#10;  &lt;/Box&gt;&#10;  &lt;Box style={{ flexDirection: 'row', height: 540 }}&gt;&#10;    &lt;Box style={{ width: 440, paddingRight: 40, flexDirection: 'column', gap: 18 }}&gt;&#10;      &lt;Text style={{ fontSize: 96, fontWeight: 'bold', color: '#2F8F4E' }}&gt;3 页签&lt;/Text&gt;&#10;      &lt;Text style={{ fontSize: 20, color: '#333333', lineHeight: 1.6 }}&gt;主窗口由「数据」「物相」「精修报告」三个页签贯穿分析全流程，左侧谱图区、右侧参数区同步联动。&lt;/Text&gt;&#10;      &lt;Box style={{ backgroundColor: '#E8F0F8', borderRadius: 10, padding: 20 }}&gt;&#10;        &lt;Text style={{ fontSize: 18, color: '#0B3C6E', lineHeight: 1.6 }}&gt;&lt;span style={{ fontWeight: 'bold' }}&gt;装载文件：&lt;/span&gt;支持 .xy / .txt / .dat / .rdf 等一维衍射数据，自动识别起止角与步长。&lt;/Text&gt;&#10;      &lt;/Box&gt;&#10;      &lt;Box style={{ backgroundColor: '#FDF3E7', borderRadius: 10, padding: 20, border: '1px solid #D9822B' }}&gt;&#10;        &lt;Text style={{ fontSize: 18, color: '#8A5A1A', lineHeight: 1.6 }}&gt;&lt;span style={{ fontWeight: 'bold' }}&gt;关键检查：&lt;/span&gt;波长默认 Cu Kα1（1.5406 Å）。波长与实验不一致，后续找峰、鉴定、精修全部失真——装载后第一步先核波长。&lt;/Text&gt;&#10;      &lt;/Box&gt;&#10;    &lt;/Box&gt;&#10;    &lt;Box style={{ width: 720, flexDirection: 'column', justifyContent: 'center' }}&gt;&#10;      &lt;Image src=&quot;assets/02_data_loaded.png&quot; style={{ width: 720, height: 500, objectFit: 'contain', border: '1px solid #C5D5E8', borderRadius: 8 }} /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主界面与数据装载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第一章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快速上手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0" y="1143000"/>
            <a:ext cx="3810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F8F4E"/>
                </a:solidFill>
                <a:latin typeface="Source Han Sans SC"/>
                <a:ea typeface="Source Han Sans SC"/>
              </a:rPr>
              <a:t>3 </a:t>
            </a:r>
            <a:r>
              <a:rPr lang="zh-CN" sz="7200" b="1">
                <a:solidFill>
                  <a:srgbClr val="2F8F4E"/>
                </a:solidFill>
                <a:latin typeface="Source Han Sans SC"/>
                <a:ea typeface="Source Han Sans SC"/>
              </a:rPr>
              <a:t>页签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0" y="2419350"/>
            <a:ext cx="38100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主窗口由「数据」「物相」「精修报告」三个页签贯穿分析全流程，左侧谱图区、右侧参数区同步联动。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0" y="3695700"/>
            <a:ext cx="3810000" cy="1047750"/>
          </a:xfrm>
          <a:prstGeom prst="roundRect">
            <a:avLst>
              <a:gd name="adj" fmla="val 9091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90500" y="3886200"/>
            <a:ext cx="3429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B3C6E"/>
                </a:solidFill>
                <a:latin typeface="Source Han Sans SC"/>
                <a:ea typeface="Source Han Sans SC"/>
              </a:rPr>
              <a:t>装载文件：</a:t>
            </a:r>
            <a:r>
              <a:rPr lang="zh-CN" sz="1350">
                <a:solidFill>
                  <a:srgbClr val="0B3C6E"/>
                </a:solidFill>
                <a:latin typeface="Source Han Sans SC"/>
                <a:ea typeface="Source Han Sans SC"/>
              </a:rPr>
              <a:t>支持</a:t>
            </a:r>
            <a:r>
              <a:rPr lang="en-US" sz="1350">
                <a:solidFill>
                  <a:srgbClr val="0B3C6E"/>
                </a:solidFill>
                <a:latin typeface="Source Han Sans SC"/>
                <a:ea typeface="Source Han Sans SC"/>
              </a:rPr>
              <a:t> .xy / .txt / .dat / .rdf </a:t>
            </a:r>
            <a:r>
              <a:rPr lang="zh-CN" sz="1350">
                <a:solidFill>
                  <a:srgbClr val="0B3C6E"/>
                </a:solidFill>
                <a:latin typeface="Source Han Sans SC"/>
                <a:ea typeface="Source Han Sans SC"/>
              </a:rPr>
              <a:t>等一维衍射数据，自动识别起止角与步长。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0" y="4914900"/>
            <a:ext cx="3810000" cy="1371600"/>
          </a:xfrm>
          <a:prstGeom prst="roundRect">
            <a:avLst>
              <a:gd name="adj" fmla="val 6944"/>
            </a:avLst>
          </a:prstGeom>
          <a:solidFill>
            <a:srgbClr val="FDF3E7"/>
          </a:solidFill>
          <a:ln w="12700">
            <a:solidFill>
              <a:srgbClr val="D9822B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90500" y="5105400"/>
            <a:ext cx="3429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8A5A1A"/>
                </a:solidFill>
                <a:latin typeface="Source Han Sans SC"/>
                <a:ea typeface="Source Han Sans SC"/>
              </a:rPr>
              <a:t>关键检查：</a:t>
            </a:r>
            <a:r>
              <a:rPr lang="zh-CN" sz="1350">
                <a:solidFill>
                  <a:srgbClr val="8A5A1A"/>
                </a:solidFill>
                <a:latin typeface="Source Han Sans SC"/>
                <a:ea typeface="Source Han Sans SC"/>
              </a:rPr>
              <a:t>波长默认</a:t>
            </a:r>
            <a:r>
              <a:rPr lang="en-US" sz="1350">
                <a:solidFill>
                  <a:srgbClr val="8A5A1A"/>
                </a:solidFill>
                <a:latin typeface="Source Han Sans SC"/>
                <a:ea typeface="Source Han Sans SC"/>
              </a:rPr>
              <a:t> Cu Kα1</a:t>
            </a:r>
            <a:r>
              <a:rPr lang="zh-CN" sz="1350">
                <a:solidFill>
                  <a:srgbClr val="8A5A1A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8A5A1A"/>
                </a:solidFill>
                <a:latin typeface="Source Han Sans SC"/>
                <a:ea typeface="Source Han Sans SC"/>
              </a:rPr>
              <a:t>1.5406 Å</a:t>
            </a:r>
            <a:r>
              <a:rPr lang="zh-CN" sz="1350">
                <a:solidFill>
                  <a:srgbClr val="8A5A1A"/>
                </a:solidFill>
                <a:latin typeface="Source Han Sans SC"/>
                <a:ea typeface="Source Han Sans SC"/>
              </a:rPr>
              <a:t>）。波长与实验不一致，后续找峰、鉴定、精修全部失真——装载后第一步先核波长。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191000" y="1333500"/>
            <a:ext cx="6858000" cy="4762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06" name=""/>
          <p:cNvPicPr>
            <a:picLocks noChangeAspect="1"/>
          </p:cNvPicPr>
          <p:nvPr/>
        </p:nvPicPr>
        <p:blipFill>
          <a:blip r:embed="rId1"/>
          <a:srcRect l="0" t="3488" r="0" b="3488"/>
          <a:stretch>
            <a:fillRect/>
          </a:stretch>
        </p:blipFill>
        <p:spPr>
          <a:xfrm rot="0" flipH="0" flipV="0">
            <a:off x="4191000" y="1333500"/>
            <a:ext cx="6858000" cy="4762500"/>
          </a:xfrm>
          <a:prstGeom prst="roundRect">
            <a:avLst>
              <a:gd name="adj" fmla="val 1600"/>
            </a:avLst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9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扣背景与找峰&lt;/Text&gt;&#10;    &lt;Text style={{ fontSize: 16, color: '#8A94A6' }}&gt;第一章 · 快速上手&lt;/Text&gt;&#10;  &lt;/Box&gt;&#10;  &lt;Box style={{ flexDirection: 'row', height: 540 }}&gt;&#10;    &lt;Box style={{ width: 660, paddingLeft: 60, justifyContent: 'center' }}&gt;&#10;      &lt;Image src=&quot;assets/03_phase_peaks.png&quot; style={{ width: 600, height: 460, objectFit: 'contain', border: '1px solid #C5D5E8', borderRadius: 8 }} /&gt;&#10;    &lt;/Box&gt;&#10;    &lt;Box style={{ width: 560, paddingRight: 60, paddingTop: 30, flexDirection: 'column', gap: 20 }}&gt;&#10;      &lt;Text style={{ fontSize: 24, fontWeight: 'bold', color: '#0B3C6E' }}&gt;两步预处理，峰位质量决定鉴定上限&lt;/Text&gt;&#10;      &lt;Box style={{ backgroundColor: '#E8F0F8', borderRadius: 10, padding: 20 }}&gt;&#10;        &lt;Text style={{ fontSize: 19, color: '#333333', lineHeight: 1.6 }}&gt;&lt;span style={{ fontWeight: 'bold', color: '#0B3C6E' }}&gt;SNIP 扣背景：&lt;/span&gt;约束迭代算法剥离非晶散射与空气散射，得到干净的净强度曲线。&lt;/Text&gt;&#10;      &lt;/Box&gt;&#10;      &lt;Box style={{ backgroundColor: '#E8F0F8', borderRadius: 10, padding: 20 }}&gt;&#10;        &lt;Text style={{ fontSize: 19, color: '#333333', lineHeight: 1.6 }}&gt;&lt;span style={{ fontWeight: 'bold', color: '#0B3C6E' }}&gt;二阶导数找峰：&lt;/span&gt;自动识别衍射峰位，信噪比阈值默认 3、最小峰间距 0.5°；弱峰漏找时放宽阈值重找。&lt;/Text&gt;&#10;      &lt;/Box&gt;&#10;      &lt;Text style={{ fontSize: 19, color: '#2F8F4E', lineHeight: 1.6 }}&gt;黑色圆点为净强度，红色曲线为拟合峰形，绿色竖线为认定的峰位——三者对齐说明预处理可靠。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5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扣背景与找峰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第一章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快速上手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1524000"/>
            <a:ext cx="5715000" cy="4381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 r:embed="rId1"/>
          <a:srcRect l="1313" t="0" r="1313" b="0"/>
          <a:stretch>
            <a:fillRect/>
          </a:stretch>
        </p:blipFill>
        <p:spPr>
          <a:xfrm rot="0" flipH="0" flipV="0">
            <a:off x="571500" y="1524000"/>
            <a:ext cx="5715000" cy="4381500"/>
          </a:xfrm>
          <a:prstGeom prst="roundRect">
            <a:avLst>
              <a:gd name="adj" fmla="val 1739"/>
            </a:avLst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286500" y="1428750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两步预处理，峰位质量决定鉴定上限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286500" y="1895475"/>
            <a:ext cx="47625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77000" y="2085975"/>
            <a:ext cx="438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 b="1">
                <a:solidFill>
                  <a:srgbClr val="0B3C6E"/>
                </a:solidFill>
                <a:latin typeface="Source Han Sans SC"/>
                <a:ea typeface="Source Han Sans SC"/>
              </a:rPr>
              <a:t>SNIP </a:t>
            </a: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扣背景：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约束迭代算法剥离非晶散射与空气散射，得到干净的净强度曲线。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286500" y="3162300"/>
            <a:ext cx="4762500" cy="1076325"/>
          </a:xfrm>
          <a:prstGeom prst="roundRect">
            <a:avLst>
              <a:gd name="adj" fmla="val 8850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77000" y="3352800"/>
            <a:ext cx="438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二阶导数找峰：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自动识别衍射峰位，信噪比阈值默认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3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、最小峰间距</a:t>
            </a:r>
            <a:r>
              <a:rPr lang="en-US" sz="1425">
                <a:solidFill>
                  <a:srgbClr val="333333"/>
                </a:solidFill>
                <a:latin typeface="Source Han Sans SC"/>
                <a:ea typeface="Source Han Sans SC"/>
              </a:rPr>
              <a:t> 0.5°</a:t>
            </a:r>
            <a:r>
              <a:rPr lang="zh-CN" sz="1425">
                <a:solidFill>
                  <a:srgbClr val="333333"/>
                </a:solidFill>
                <a:latin typeface="Source Han Sans SC"/>
                <a:ea typeface="Source Han Sans SC"/>
              </a:rPr>
              <a:t>；弱峰漏找时放宽阈值重找。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286500" y="4429125"/>
            <a:ext cx="4762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2F8F4E"/>
                </a:solidFill>
                <a:latin typeface="Source Han Sans SC"/>
                <a:ea typeface="Source Han Sans SC"/>
              </a:rPr>
              <a:t>黑色圆点为净强度，红色曲线为拟合峰形，绿色竖线为认定的峰位——三者对齐说明预处理可靠。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3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物相鉴定&lt;/Text&gt;&#10;    &lt;Text style={{ fontSize: 16, color: '#8A94A6' }}&gt;第一章 · 快速上手&lt;/Text&gt;&#10;  &lt;/Box&gt;&#10;  &lt;Box style={{ flexDirection: 'column', height: 540, paddingLeft: 60, paddingRight: 60 }}&gt;&#10;    &lt;Image src=&quot;assets/04_phase_identified.png&quot; style={{ width: 1160, height: 300, objectFit: 'contain', border: '1px solid #C5D5E8', borderRadius: 8 }} /&gt;&#10;    &lt;Box style={{ flexDirection: 'row', gap: 24, marginTop: 24 }}&gt;&#10;      &lt;Box style={{ width: 370, backgroundColor: '#E8F0F8', borderRadius: 10, padding: 20 }}&gt;&#10;        &lt;Text style={{ fontSize: 20, fontWeight: 'bold', color: '#0B3C6E' }}&gt;① 检索&lt;/Text&gt;&#10;        &lt;Text style={{ fontSize: 18, color: '#333333', lineHeight: 1.6, marginTop: 8 }}&gt;数据源选「内置库」，用峰位对 COD 无机物相库做全库检索。&lt;/Text&gt;&#10;      &lt;/Box&gt;&#10;      &lt;Box style={{ width: 370, backgroundColor: '#E8F0F8', borderRadius: 10, padding: 20 }}&gt;&#10;        &lt;Text style={{ fontSize: 20, fontWeight: 'bold', color: '#0B3C6E' }}&gt;② 叠加比对&lt;/Text&gt;&#10;        &lt;Text style={{ fontSize: 18, color: '#333333', lineHeight: 1.6, marginTop: 8 }}&gt;按 FoM（品质因子）排序候选相，点选即叠加理论峰位核对对齐情况。&lt;/Text&gt;&#10;      &lt;/Box&gt;&#10;      &lt;Box style={{ width: 370, backgroundColor: '#E8F0F8', borderRadius: 10, padding: 20 }}&gt;&#10;        &lt;Text style={{ fontSize: 20, fontWeight: 'bold', color: '#0B3C6E' }}&gt;③ 采纳&lt;/Text&gt;&#10;        &lt;Text style={{ fontSize: 18, color: '#333333', lineHeight: 1.6, marginTop: 8 }}&gt;点击「采纳」加入物相列表；混合物样品逐条采纳直至谱线基本对齐。&lt;/Text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6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物相鉴定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420350" y="571500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第一章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快速上手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571500" y="1143000"/>
            <a:ext cx="11049000" cy="2857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0" t="32678" r="0" b="32678"/>
          <a:stretch>
            <a:fillRect/>
          </a:stretch>
        </p:blipFill>
        <p:spPr>
          <a:xfrm rot="0" flipH="0" flipV="0">
            <a:off x="571500" y="1143000"/>
            <a:ext cx="110490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129" name=""/>
          <p:cNvSpPr/>
          <p:nvPr/>
        </p:nvSpPr>
        <p:spPr>
          <a:xfrm rot="0" flipH="0" flipV="0">
            <a:off x="571500" y="4229100"/>
            <a:ext cx="3524250" cy="1352550"/>
          </a:xfrm>
          <a:prstGeom prst="roundRect">
            <a:avLst>
              <a:gd name="adj" fmla="val 7042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62000" y="4419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① </a:t>
            </a: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检索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2000" y="4724400"/>
            <a:ext cx="3143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数据源选「内置库」，用峰位对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COD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无机物相库做全库检索。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324350" y="4229100"/>
            <a:ext cx="3524250" cy="1352550"/>
          </a:xfrm>
          <a:prstGeom prst="roundRect">
            <a:avLst>
              <a:gd name="adj" fmla="val 7042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514850" y="4419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② </a:t>
            </a: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叠加比对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14850" y="4724400"/>
            <a:ext cx="3143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按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FoM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（品质因子）排序候选相，点选即叠加理论峰位核对对齐情况。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077200" y="4229100"/>
            <a:ext cx="3524250" cy="1352550"/>
          </a:xfrm>
          <a:prstGeom prst="roundRect">
            <a:avLst>
              <a:gd name="adj" fmla="val 7042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267700" y="44196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③ </a:t>
            </a: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采纳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67700" y="4724400"/>
            <a:ext cx="31432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点击「采纳」加入物相列表；混合物样品逐条采纳直至谱线基本对齐。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1280, height: 720, backgroundColor: '#0B3C6E', backgroundImage: 'linear-gradient(135deg, #0B3C6E 0%, #1A5FA0 100%)', fontFamily: &quot;'Source Han Sans SC','Microsoft YaHei',sans-serif&quot;, position: 'relative' }}&gt;&#10;  &lt;Box style={{ position: 'absolute', left: 0, top: 250, width: 1280, flexDirection: 'column', alignItems: 'center' }}&gt;&#10;    &lt;Text style={{ fontSize: 140, fontWeight: 'bold', color: 'rgba(255,255,255,0.18)' }}&gt;02&lt;/Text&gt;&#10;    &lt;Text style={{ fontSize: 64, fontWeight: 'bold', color: '#FFFFFF', marginTop: -40 }}&gt;结构精修与产出&lt;/Text&gt;&#10;    &lt;Text style={{ fontSize: 22, color: 'rgba(255,255,255,0.8)', marginTop: 24 }}&gt;从定性到定量：四引擎 Rietveld 精修与报告导出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3C6E"/>
              </a:gs>
              <a:gs pos="100000">
                <a:srgbClr val="1A5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276850" y="2381250"/>
            <a:ext cx="1647825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962400" y="3600450"/>
            <a:ext cx="42672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结构精修与产出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48100" y="4562475"/>
            <a:ext cx="4495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从定性到定量：四引擎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 Rietveld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精修与报告导出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6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四引擎精修体系&lt;/Text&gt;&#10;    &lt;Text style={{ fontSize: 16, color: '#8A94A6' }}&gt;第二章 · 精修与产出&lt;/Text&gt;&#10;  &lt;/Box&gt;&#10;  &lt;Box style={{ flexDirection: 'row', height: 540, paddingLeft: 60, paddingRight: 60 }}&gt;&#10;    &lt;Box style={{ width: 640, justifyContent: 'center' }}&gt;&#10;      &lt;Image src=&quot;assets/05_refinement_page.png&quot; style={{ width: 640, height: 460, objectFit: 'contain', border: '1px solid #C5D5E8', borderRadius: 8 }} /&gt;&#10;      &lt;Text style={{ fontSize: 14, color: '#8A94A6', textAlign: 'center', marginTop: 8 }}&gt;精修页：引擎下拉 + 外部程序状态灯（绿=可用）&lt;/Text&gt;&#10;    &lt;/Box&gt;&#10;    &lt;Box style={{ width: 460, paddingLeft: 40, paddingTop: 10, flexDirection: 'column', gap: 16 }}&gt;&#10;      &lt;Box style={{ backgroundColor: '#E8F0F8', borderRadius: 10, padding: 18 }}&gt;&#10;        &lt;Text style={{ fontSize: 20, fontWeight: 'bold', color: '#0B3C6E' }}&gt;builtin · 内置引擎&lt;/Text&gt;&#10;        &lt;Text style={{ fontSize: 17, color: '#333333', lineHeight: 1.55, marginTop: 6 }}&gt;一键保守精修，自动放开标度→背景→晶胞→峰形，适合快速估算物相含量。&lt;/Text&gt;&#10;      &lt;/Box&gt;&#10;      &lt;Box style={{ backgroundColor: '#E8F0F8', borderRadius: 10, padding: 18 }}&gt;&#10;        &lt;Text style={{ fontSize: 20, fontWeight: 'bold', color: '#0B3C6E' }}&gt;GSAS-II / MAUD / FullProf&lt;/Text&gt;&#10;        &lt;Text style={{ fontSize: 17, color: '#333333', lineHeight: 1.55, marginTop: 6 }}&gt;外部专业引擎，可精修原子坐标与微观应变，适合发布级结果；需在「数据库→外部程序」中配置路径。&lt;/Text&gt;&#10;      &lt;/Box&gt;&#10;      &lt;Box style={{ backgroundColor: '#EEF7EE', borderRadius: 10, padding: 18, border: '1px solid #2F8F4E' }}&gt;&#10;        &lt;Text style={{ fontSize: 18, color: '#1F6636', lineHeight: 1.55 }}&gt;&lt;span style={{ fontWeight: 'bold' }}&gt;选型原则：&lt;/span&gt;日常巡检用内置，论文级数据交给外部引擎——同一数据可在四引擎间一键切换重跑。&lt;/Text&gt;&#10;      &lt;/Box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8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四引擎精修体系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267950" y="5715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第二章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精修与产出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71500" y="1409700"/>
            <a:ext cx="6096000" cy="4381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 r:embed="rId1"/>
          <a:srcRect l="0" t="1860" r="0" b="1860"/>
          <a:stretch>
            <a:fillRect/>
          </a:stretch>
        </p:blipFill>
        <p:spPr>
          <a:xfrm rot="0" flipH="0" flipV="0">
            <a:off x="571500" y="1409700"/>
            <a:ext cx="6096000" cy="4381500"/>
          </a:xfrm>
          <a:prstGeom prst="roundRect">
            <a:avLst>
              <a:gd name="adj" fmla="val 1739"/>
            </a:avLst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5867400"/>
            <a:ext cx="6096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精修页：引擎下拉</a:t>
            </a: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 +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外部程序状态灯（绿</a:t>
            </a: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=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可用）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048500" y="1238250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219950" y="140970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builtin · </a:t>
            </a: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内置引擎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219950" y="1695450"/>
            <a:ext cx="3657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一键保守精修，自动放开标度→背景→晶胞→峰形，适合快速估算物相含量。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048500" y="2628900"/>
            <a:ext cx="4000500" cy="1533525"/>
          </a:xfrm>
          <a:prstGeom prst="roundRect">
            <a:avLst>
              <a:gd name="adj" fmla="val 6211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219950" y="280035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GSAS-II / MAUD / FullProf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219950" y="3086100"/>
            <a:ext cx="36576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外部专业引擎，可精修原子坐标与微观应变，适合发布级结果；需在「数据库→外部程序」中配置路径。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048500" y="4314825"/>
            <a:ext cx="4000500" cy="1304925"/>
          </a:xfrm>
          <a:prstGeom prst="roundRect">
            <a:avLst>
              <a:gd name="adj" fmla="val 7299"/>
            </a:avLst>
          </a:prstGeom>
          <a:solidFill>
            <a:srgbClr val="EEF7EE"/>
          </a:solidFill>
          <a:ln w="12700">
            <a:solidFill>
              <a:srgbClr val="2F8F4E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219950" y="4486275"/>
            <a:ext cx="36576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F6636"/>
                </a:solidFill>
                <a:latin typeface="Source Han Sans SC"/>
                <a:ea typeface="Source Han Sans SC"/>
              </a:rPr>
              <a:t>选型原则：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日常巡检用内置，论文级数据交给外部引擎——同一数据可在四引擎间一键切换重跑。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3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分步精修向导&lt;/Text&gt;&#10;    &lt;Text style={{ fontSize: 16, color: '#8A94A6' }}&gt;第二章 · 精修与产出&lt;/Text&gt;&#10;  &lt;/Box&gt;&#10;  &lt;Box style={{ flexDirection: 'row', height: 540 }}&gt;&#10;    &lt;Box style={{ width: 620, paddingLeft: 60, justifyContent: 'center' }}&gt;&#10;      &lt;Image src=&quot;assets/08_refine_wizard.png&quot; style={{ width: 560, height: 380, objectFit: 'contain', border: '1px solid #C5D5E8', borderRadius: 8 }} /&gt;&#10;      &lt;Text style={{ fontSize: 14, color: '#8A94A6', textAlign: 'center', marginTop: 8 }}&gt;精修向导：按步骤放开参数，每步给出收敛反馈&lt;/Text&gt;&#10;    &lt;/Box&gt;&#10;    &lt;Box style={{ width: 600, paddingRight: 60, paddingTop: 30, flexDirection: 'column', gap: 20 }}&gt;&#10;      &lt;Text style={{ fontSize: 24, fontWeight: 'bold', color: '#0B3C6E' }}&gt;新手友好：把精修拆成可控的小步&lt;/Text&gt;&#10;      &lt;Box style={{ backgroundColor: '#E8F0F8', borderRadius: 10, padding: 18 }}&gt;&#10;        &lt;Text style={{ fontSize: 18, color: '#333333', lineHeight: 1.6 }}&gt;&lt;span style={{ fontWeight: 'bold', color: '#0B3C6E' }}&gt;分步放开：&lt;/span&gt;第 1 步只精修标度因子与背景，收敛后再依次放开晶胞参数与峰形 (U, V, W)，避免参数一起放开导致发散。&lt;/Text&gt;&#10;      &lt;/Box&gt;&#10;      &lt;Box style={{ backgroundColor: '#E8F0F8', borderRadius: 10, padding: 18 }}&gt;&#10;        &lt;Text style={{ fontSize: 18, color: '#333333', lineHeight: 1.6 }}&gt;&lt;span style={{ fontWeight: 'bold', color: '#0B3C6E' }}&gt;逐步反馈：&lt;/span&gt;每一步实时显示 Rwp 变化与参数表，发现某步变差可立即回退上一步。&lt;/Text&gt;&#10;      &lt;/Box&gt;&#10;      &lt;Text style={{ fontSize: 19, color: '#2F8F4E', lineHeight: 1.6 }}&gt;与精修页的「一键精修」是两条独立路径：想快用一键，想控过程用向导。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分步精修向导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267950" y="5715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第二章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精修与产出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71500" y="1790700"/>
            <a:ext cx="5334000" cy="3619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571500" y="1790700"/>
            <a:ext cx="5334000" cy="3619500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5486400"/>
            <a:ext cx="5334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精修向导：按步骤放开参数，每步给出收敛反馈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905500" y="1428750"/>
            <a:ext cx="5143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新手友好：把精修拆成可控的小步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5905500" y="1895475"/>
            <a:ext cx="5143500" cy="1009650"/>
          </a:xfrm>
          <a:prstGeom prst="roundRect">
            <a:avLst>
              <a:gd name="adj" fmla="val 9434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76950" y="2066925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B3C6E"/>
                </a:solidFill>
                <a:latin typeface="Source Han Sans SC"/>
                <a:ea typeface="Source Han Sans SC"/>
              </a:rPr>
              <a:t>分步放开：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第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1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步只精修标度因子与背景，收敛后再依次放开晶胞参数与峰形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(U, V, W)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，避免参数一起放开导致发散。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905500" y="3095625"/>
            <a:ext cx="5143500" cy="1009650"/>
          </a:xfrm>
          <a:prstGeom prst="roundRect">
            <a:avLst>
              <a:gd name="adj" fmla="val 9434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76950" y="3267075"/>
            <a:ext cx="4800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B3C6E"/>
                </a:solidFill>
                <a:latin typeface="Source Han Sans SC"/>
                <a:ea typeface="Source Han Sans SC"/>
              </a:rPr>
              <a:t>逐步反馈：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每一步实时显示</a:t>
            </a:r>
            <a:r>
              <a:rPr lang="en-US" sz="1350">
                <a:solidFill>
                  <a:srgbClr val="333333"/>
                </a:solidFill>
                <a:latin typeface="Source Han Sans SC"/>
                <a:ea typeface="Source Han Sans SC"/>
              </a:rPr>
              <a:t> Rwp </a:t>
            </a:r>
            <a:r>
              <a:rPr lang="zh-CN" sz="1350">
                <a:solidFill>
                  <a:srgbClr val="333333"/>
                </a:solidFill>
                <a:latin typeface="Source Han Sans SC"/>
                <a:ea typeface="Source Han Sans SC"/>
              </a:rPr>
              <a:t>变化与参数表，发现某步变差可立即回退上一步。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905500" y="4295775"/>
            <a:ext cx="5143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2F8F4E"/>
                </a:solidFill>
                <a:latin typeface="Source Han Sans SC"/>
                <a:ea typeface="Source Han Sans SC"/>
              </a:rPr>
              <a:t>与精修页的「一键精修」是两条独立路径：想快用一键，想控过程用向导。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精修结果与报告导出&lt;/Text&gt;&#10;    &lt;Text style={{ fontSize: 16, color: '#8A94A6' }}&gt;第二章 · 精修与产出&lt;/Text&gt;&#10;  &lt;/Box&gt;&#10;  &lt;Box style={{ flexDirection: 'row', height: 540, paddingLeft: 60, paddingRight: 60 }}&gt;&#10;    &lt;Box style={{ width: 480, flexDirection: 'column', paddingTop: 30, gap: 20 }}&gt;&#10;      &lt;Text style={{ fontSize: 96, fontWeight: 'bold', color: '#2F8F4E' }}&gt;Rwp&lt;/Text&gt;&#10;      &lt;Text style={{ fontSize: 20, color: '#333333', lineHeight: 1.6 }}&gt;加权残差因子——观测谱与计算谱差异的最直观度量，&lt;span style={{ fontWeight: 'bold' }}&gt;越低拟合越好&lt;/span&gt;；同时给出 GoF 拟合优度与逐相含量表。&lt;/Text&gt;&#10;      &lt;Box style={{ backgroundColor: '#EEF7EE', borderRadius: 10, padding: 18, border: '1px solid #2F8F4E' }}&gt;&#10;        &lt;Text style={{ fontSize: 18, color: '#1F6636', lineHeight: 1.6 }}&gt;&lt;span style={{ fontWeight: 'bold' }}&gt;一键报告：&lt;/span&gt;报告页生成 HTML 分析报告，含谱图（观测 / 计算 / 差值线）、物相列表、含量表与精修指标，可直接归档或进论文。&lt;/Text&gt;&#10;      &lt;/Box&gt;&#10;      &lt;Text style={{ fontSize: 17, color: '#8A94A6', lineHeight: 1.5 }}&gt;内置引擎不精修原子坐标，wR 在 50%~90% 属正常水平；发布级结果请切换外部引擎。&lt;/Text&gt;&#10;    &lt;/Box&gt;&#10;    &lt;Box style={{ width: 680, justifyContent: 'center' }}&gt;&#10;      &lt;Image src=&quot;assets/07_report_page.png&quot; style={{ width: 680, height: 460, objectFit: 'contain', border: '1px solid #C5D5E8', borderRadius: 8 }} /&gt;&#10;      &lt;Text style={{ fontSize: 14, color: '#8A94A6', textAlign: 'center', marginTop: 8 }}&gt;报告页：指标卡片 + 含量表 + 一键导出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精修结果与报告导出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267950" y="5715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第二章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精修与产出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4572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F8F4E"/>
                </a:solidFill>
                <a:latin typeface="Source Han Sans SC"/>
                <a:ea typeface="Source Han Sans SC"/>
              </a:rPr>
              <a:t>Rwp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2724150"/>
            <a:ext cx="45720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加权残差因子——观测谱与计算谱差异的最直观度量，</a:t>
            </a:r>
            <a:r>
              <a:rPr lang="zh-CN" sz="1500" b="1">
                <a:solidFill>
                  <a:srgbClr val="333333"/>
                </a:solidFill>
                <a:latin typeface="Source Han Sans SC"/>
                <a:ea typeface="Source Han Sans SC"/>
              </a:rPr>
              <a:t>越低拟合越好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；同时给出</a:t>
            </a:r>
            <a:r>
              <a:rPr lang="en-US" sz="1500">
                <a:solidFill>
                  <a:srgbClr val="333333"/>
                </a:solidFill>
                <a:latin typeface="Source Han Sans SC"/>
                <a:ea typeface="Source Han Sans SC"/>
              </a:rPr>
              <a:t> GoF </a:t>
            </a:r>
            <a:r>
              <a:rPr lang="zh-CN" sz="1500">
                <a:solidFill>
                  <a:srgbClr val="333333"/>
                </a:solidFill>
                <a:latin typeface="Source Han Sans SC"/>
                <a:ea typeface="Source Han Sans SC"/>
              </a:rPr>
              <a:t>拟合优度与逐相含量表。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71500" y="4019550"/>
            <a:ext cx="4572000" cy="1333500"/>
          </a:xfrm>
          <a:prstGeom prst="roundRect">
            <a:avLst>
              <a:gd name="adj" fmla="val 7143"/>
            </a:avLst>
          </a:prstGeom>
          <a:solidFill>
            <a:srgbClr val="EEF7EE"/>
          </a:solidFill>
          <a:ln w="12700">
            <a:solidFill>
              <a:srgbClr val="2F8F4E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42950" y="4191000"/>
            <a:ext cx="42291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F6636"/>
                </a:solidFill>
                <a:latin typeface="Source Han Sans SC"/>
                <a:ea typeface="Source Han Sans SC"/>
              </a:rPr>
              <a:t>一键报告：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报告页生成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 HTML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分析报告，含谱图（观测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计算</a:t>
            </a:r>
            <a:r>
              <a:rPr lang="en-US" sz="1350">
                <a:solidFill>
                  <a:srgbClr val="1F6636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F6636"/>
                </a:solidFill>
                <a:latin typeface="Source Han Sans SC"/>
                <a:ea typeface="Source Han Sans SC"/>
              </a:rPr>
              <a:t>差值线）、物相列表、含量表与精修指标，可直接归档或进论文。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5543550"/>
            <a:ext cx="4572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8A94A6"/>
                </a:solidFill>
                <a:latin typeface="Source Han Sans SC"/>
                <a:ea typeface="Source Han Sans SC"/>
              </a:rPr>
              <a:t>内置引擎不精修原子坐标，</a:t>
            </a:r>
            <a:r>
              <a:rPr lang="en-US" sz="1275">
                <a:solidFill>
                  <a:srgbClr val="8A94A6"/>
                </a:solidFill>
                <a:latin typeface="Source Han Sans SC"/>
                <a:ea typeface="Source Han Sans SC"/>
              </a:rPr>
              <a:t>wR </a:t>
            </a:r>
            <a:r>
              <a:rPr lang="zh-CN" sz="1275">
                <a:solidFill>
                  <a:srgbClr val="8A94A6"/>
                </a:solidFill>
                <a:latin typeface="Source Han Sans SC"/>
                <a:ea typeface="Source Han Sans SC"/>
              </a:rPr>
              <a:t>在</a:t>
            </a:r>
            <a:r>
              <a:rPr lang="en-US" sz="1275">
                <a:solidFill>
                  <a:srgbClr val="8A94A6"/>
                </a:solidFill>
                <a:latin typeface="Source Han Sans SC"/>
                <a:ea typeface="Source Han Sans SC"/>
              </a:rPr>
              <a:t> 50%~90% </a:t>
            </a:r>
            <a:r>
              <a:rPr lang="zh-CN" sz="1275">
                <a:solidFill>
                  <a:srgbClr val="8A94A6"/>
                </a:solidFill>
                <a:latin typeface="Source Han Sans SC"/>
                <a:ea typeface="Source Han Sans SC"/>
              </a:rPr>
              <a:t>属正常水平；发布级结果请切换外部引擎。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143500" y="1409700"/>
            <a:ext cx="6477000" cy="4381500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1"/>
          <a:srcRect l="0" t="4692" r="0" b="4692"/>
          <a:stretch>
            <a:fillRect/>
          </a:stretch>
        </p:blipFill>
        <p:spPr>
          <a:xfrm rot="0" flipH="0" flipV="0">
            <a:off x="5143500" y="1409700"/>
            <a:ext cx="6477000" cy="4381500"/>
          </a:xfrm>
          <a:prstGeom prst="roundRect">
            <a:avLst>
              <a:gd name="adj" fmla="val 1739"/>
            </a:avLst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143500" y="5867400"/>
            <a:ext cx="6477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报告页：指标卡片</a:t>
            </a: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 +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含量表</a:t>
            </a: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 +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一键导出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width: 1280, height: 720, backgroundColor: '#0B3C6E', backgroundImage: 'linear-gradient(135deg, #0B3C6E 0%, #1A5FA0 100%)', fontFamily: &quot;'Source Han Sans SC','Microsoft YaHei',sans-serif&quot;, position: 'relative' }}&gt;&#10;  &lt;Box style={{ position: 'absolute', left: 0, top: 250, width: 1280, flexDirection: 'column', alignItems: 'center' }}&gt;&#10;    &lt;Text style={{ fontSize: 140, fontWeight: 'bold', color: 'rgba(255,255,255,0.18)' }}&gt;03&lt;/Text&gt;&#10;    &lt;Text style={{ fontSize: 64, fontWeight: 'bold', color: '#FFFFFF', marginTop: -40 }}&gt;原理与支持&lt;/Text&gt;&#10;    &lt;Text style={{ fontSize: 22, color: 'rgba(255,255,255,0.8)', marginTop: 24 }}&gt;知其所以然：Rietveld 方法 · 数据库体系 · 常见问题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3C6E"/>
              </a:gs>
              <a:gs pos="100000">
                <a:srgbClr val="1A5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276850" y="2381250"/>
            <a:ext cx="1647825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solidFill>
                  <a:srgbClr val="FFFFFF">
                    <a:alpha val="18000"/>
                  </a:srgbClr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572000" y="3600450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原理与支持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705225" y="4562475"/>
            <a:ext cx="4781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知其所以然：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Rietveld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方法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数据库体系</a:t>
            </a:r>
            <a:r>
              <a:rPr lang="en-US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常见问题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style={{ width: 1280, height: 720, backgroundColor: '#FFFFFF', fontFamily: &quot;'Source Han Sans SC','Microsoft YaHei',sans-serif&quot;, flexDirection: 'column' }}&gt;&#10;  &lt;Box style={{ flexDirection: 'row', height: 120, paddingTop: 20, paddingLeft: 60, paddingRight: 60, justifyContent: 'space-between', alignItems: 'center' }}&gt;&#10;    &lt;Text style={{ fontSize: 36, fontWeight: 'bold', color: '#0B3C6E' }}&gt;Rietveld 方法原理&lt;/Text&gt;&#10;    &lt;Text style={{ fontSize: 16, color: '#8A94A6' }}&gt;第三章 · 原理与支持&lt;/Text&gt;&#10;  &lt;/Box&gt;&#10;  &lt;Box style={{ flexDirection: 'row', height: 540, paddingLeft: 60, paddingRight: 60 }}&gt;&#10;    &lt;Box style={{ width: 720, flexDirection: 'column', gap: 18, paddingTop: 10 }}&gt;&#10;      &lt;Box style={{ backgroundColor: '#E8F0F8', borderRadius: 10, padding: 22 }}&gt;&#10;        &lt;Text style={{ fontSize: 19, color: '#0B3C6E', lineHeight: 1.7 }}&gt;&lt;span style={{ fontWeight: 'bold' }}&gt;核心思想：&lt;/span&gt;用物相结构模型计算整条衍射谱，与观测谱逐点比较，最小二乘最小化残差：&lt;/Text&gt;&#10;        &lt;Text style={{ fontSize: 22, color: '#333333', textAlign: 'center', marginTop: 12, fontFamily: &quot;'Cambria Math',Georgia,serif&quot; }}&gt;S = Σ wᵢ (yᵢᵒᵇˢ − yᵢᶜᵃˡᶜ)²&lt;/Text&gt;&#10;      &lt;/Box&gt;&#10;      &lt;Box style={{ backgroundColor: '#E8F0F8', borderRadius: 10, padding: 22 }}&gt;&#10;        &lt;Text style={{ fontSize: 19, color: '#0B3C6E', lineHeight: 1.7 }}&gt;&lt;span style={{ fontWeight: 'bold' }}&gt;峰形与峰宽：&lt;/span&gt;衍射峰用 pseudo-Voigt 函数描述（Gauss 与 Lorentz 的线性组合）；半高宽随角度变化服从 Caglioti 关系：&lt;/Text&gt;&#10;        &lt;Text style={{ fontSize: 22, color: '#333333', textAlign: 'center', marginTop: 12, fontFamily: &quot;'Cambria Math',Georgia,serif&quot; }}&gt;FWHM² = U·tan²θ + V·tanθ + W&lt;/Text&gt;&#10;      &lt;/Box&gt;&#10;      &lt;Box style={{ backgroundColor: '#E8F0F8', borderRadius: 10, padding: 22 }}&gt;&#10;        &lt;Text style={{ fontSize: 19, color: '#0B3C6E', lineHeight: 1.7 }}&gt;&lt;span style={{ fontWeight: 'bold' }}&gt;衍射条件：&lt;/span&gt;晶面间距与波长满足 Bragg 方程 2d·sinθ = nλ——这就是波长设置错误会导致全部分析失真的原因。&lt;/Text&gt;&#10;      &lt;/Box&gt;&#10;    &lt;/Box&gt;&#10;    &lt;Box style={{ width: 380, paddingLeft: 36, paddingTop: 10, flexDirection: 'column', gap: 18 }}&gt;&#10;      &lt;Text style={{ fontSize: 24, fontWeight: 'bold', color: '#0B3C6E' }}&gt;看两个指标就够&lt;/Text&gt;&#10;      &lt;Box style={{ border: '1px solid #2F8F4E', borderRadius: 10, padding: 18, backgroundColor: '#EEF7EE' }}&gt;&#10;        &lt;Text style={{ fontSize: 20, fontWeight: 'bold', color: '#2F8F4E' }}&gt;Rwp&lt;/Text&gt;&#10;        &lt;Text style={{ fontSize: 17, color: '#333333', lineHeight: 1.55, marginTop: 6 }}&gt;加权残差因子，越低越好；对比同一批样品的相对拟合质量。&lt;/Text&gt;&#10;      &lt;/Box&gt;&#10;      &lt;Box style={{ border: '1px solid #2F8F4E', borderRadius: 10, padding: 18, backgroundColor: '#EEF7EE' }}&gt;&#10;        &lt;Text style={{ fontSize: 20, fontWeight: 'bold', color: '#2F8F4E' }}&gt;GoF&lt;/Text&gt;&#10;        &lt;Text style={{ fontSize: 17, color: '#333333', lineHeight: 1.55, marginTop: 6 }}&gt;拟合优度（χ² 的平方根），接近 1 说明模型与数据匹配良好；远大于 1 提示有物相遗漏或模型不当。&lt;/Text&gt;&#10;      &lt;/Box&gt;&#10;      &lt;Text style={{ fontSize: 17, color: '#8A94A6', lineHeight: 1.5 }}&gt;内置引擎的物相不含原子坐标，算不出结构因子，故 wR 偏高是设计使然而非缺陷。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1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457200"/>
            <a:ext cx="28860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B3C6E"/>
                </a:solidFill>
                <a:latin typeface="Source Han Sans SC"/>
                <a:ea typeface="Source Han Sans SC"/>
              </a:rPr>
              <a:t>Rietveld </a:t>
            </a: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方法原理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267950" y="57150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第三章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原理与支持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71500" y="1238250"/>
            <a:ext cx="6858000" cy="1533525"/>
          </a:xfrm>
          <a:prstGeom prst="roundRect">
            <a:avLst>
              <a:gd name="adj" fmla="val 6211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1050" y="1447800"/>
            <a:ext cx="64389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核心思想：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用物相结构模型计算整条衍射谱，与观测谱逐点比较，最小二乘最小化残差：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81050" y="2305050"/>
            <a:ext cx="64389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>
                <a:solidFill>
                  <a:srgbClr val="333333"/>
                </a:solidFill>
                <a:latin typeface="Cambria Math"/>
                <a:ea typeface="Cambria Math"/>
              </a:rPr>
              <a:t>S = Σ wᵢ (yᵢᵒᵇˢ − yᵢᶜᵃˡᶜ)²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2943225"/>
            <a:ext cx="6858000" cy="1533525"/>
          </a:xfrm>
          <a:prstGeom prst="roundRect">
            <a:avLst>
              <a:gd name="adj" fmla="val 6211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1050" y="3152775"/>
            <a:ext cx="64389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峰形与峰宽：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衍射峰用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 pseudo-Voigt 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函数描述（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Gauss 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与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 Lorentz 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的线性组合）；半高宽随角度变化服从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 Caglioti 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关系：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4010025"/>
            <a:ext cx="64389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>
                <a:solidFill>
                  <a:srgbClr val="333333"/>
                </a:solidFill>
                <a:latin typeface="Cambria Math"/>
                <a:ea typeface="Cambria Math"/>
              </a:rPr>
              <a:t>FWHM² = U·tan²θ + V·tanθ + W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571500" y="4648200"/>
            <a:ext cx="6858000" cy="1162050"/>
          </a:xfrm>
          <a:prstGeom prst="roundRect">
            <a:avLst>
              <a:gd name="adj" fmla="val 8197"/>
            </a:avLst>
          </a:prstGeom>
          <a:solidFill>
            <a:srgbClr val="E8F0F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81050" y="4857750"/>
            <a:ext cx="64389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 b="1">
                <a:solidFill>
                  <a:srgbClr val="0B3C6E"/>
                </a:solidFill>
                <a:latin typeface="Source Han Sans SC"/>
                <a:ea typeface="Source Han Sans SC"/>
              </a:rPr>
              <a:t>衍射条件：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晶面间距与波长满足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 Bragg 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方程</a:t>
            </a:r>
            <a:r>
              <a:rPr lang="en-US" sz="1425">
                <a:solidFill>
                  <a:srgbClr val="0B3C6E"/>
                </a:solidFill>
                <a:latin typeface="Source Han Sans SC"/>
                <a:ea typeface="Source Han Sans SC"/>
              </a:rPr>
              <a:t> 2d·sinθ = nλ——</a:t>
            </a:r>
            <a:r>
              <a:rPr lang="zh-CN" sz="1425">
                <a:solidFill>
                  <a:srgbClr val="0B3C6E"/>
                </a:solidFill>
                <a:latin typeface="Source Han Sans SC"/>
                <a:ea typeface="Source Han Sans SC"/>
              </a:rPr>
              <a:t>这就是波长设置错误会导致全部分析失真的原因。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772400" y="1238250"/>
            <a:ext cx="327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B3C6E"/>
                </a:solidFill>
                <a:latin typeface="Source Han Sans SC"/>
                <a:ea typeface="Source Han Sans SC"/>
              </a:rPr>
              <a:t>看两个指标就够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772400" y="1685925"/>
            <a:ext cx="3276600" cy="1238250"/>
          </a:xfrm>
          <a:prstGeom prst="roundRect">
            <a:avLst>
              <a:gd name="adj" fmla="val 7692"/>
            </a:avLst>
          </a:prstGeom>
          <a:solidFill>
            <a:srgbClr val="EEF7EE"/>
          </a:solidFill>
          <a:ln w="12700">
            <a:solidFill>
              <a:srgbClr val="2F8F4E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943850" y="185737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F8F4E"/>
                </a:solidFill>
                <a:latin typeface="Source Han Sans SC"/>
                <a:ea typeface="Source Han Sans SC"/>
              </a:rPr>
              <a:t>Rwp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943850" y="2143125"/>
            <a:ext cx="29337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加权残差因子，越低越好；对比同一批样品的相对拟合质量。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772400" y="3095625"/>
            <a:ext cx="3276600" cy="1533525"/>
          </a:xfrm>
          <a:prstGeom prst="roundRect">
            <a:avLst>
              <a:gd name="adj" fmla="val 6211"/>
            </a:avLst>
          </a:prstGeom>
          <a:solidFill>
            <a:srgbClr val="EEF7EE"/>
          </a:solidFill>
          <a:ln w="12700">
            <a:solidFill>
              <a:srgbClr val="2F8F4E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943850" y="326707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F8F4E"/>
                </a:solidFill>
                <a:latin typeface="Source Han Sans SC"/>
                <a:ea typeface="Source Han Sans SC"/>
              </a:rPr>
              <a:t>GoF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943850" y="3552825"/>
            <a:ext cx="29337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拟合优度（χ²</a:t>
            </a:r>
            <a:r>
              <a:rPr lang="en-US" sz="1275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的平方根），接近</a:t>
            </a:r>
            <a:r>
              <a:rPr lang="en-US" sz="1275">
                <a:solidFill>
                  <a:srgbClr val="333333"/>
                </a:solidFill>
                <a:latin typeface="Source Han Sans SC"/>
                <a:ea typeface="Source Han Sans SC"/>
              </a:rPr>
              <a:t> 1 </a:t>
            </a: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说明模型与数据匹配良好；远大于</a:t>
            </a:r>
            <a:r>
              <a:rPr lang="en-US" sz="1275">
                <a:solidFill>
                  <a:srgbClr val="333333"/>
                </a:solidFill>
                <a:latin typeface="Source Han Sans SC"/>
                <a:ea typeface="Source Han Sans SC"/>
              </a:rPr>
              <a:t> 1 </a:t>
            </a:r>
            <a:r>
              <a:rPr lang="zh-CN" sz="1275">
                <a:solidFill>
                  <a:srgbClr val="333333"/>
                </a:solidFill>
                <a:latin typeface="Source Han Sans SC"/>
                <a:ea typeface="Source Han Sans SC"/>
              </a:rPr>
              <a:t>提示有物相遗漏或模型不当。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772400" y="4800600"/>
            <a:ext cx="3276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8A94A6"/>
                </a:solidFill>
                <a:latin typeface="Source Han Sans SC"/>
                <a:ea typeface="Source Han Sans SC"/>
              </a:rPr>
              <a:t>内置引擎的物相不含原子坐标，算不出结构因子，故</a:t>
            </a:r>
            <a:r>
              <a:rPr lang="en-US" sz="1275">
                <a:solidFill>
                  <a:srgbClr val="8A94A6"/>
                </a:solidFill>
                <a:latin typeface="Source Han Sans SC"/>
                <a:ea typeface="Source Han Sans SC"/>
              </a:rPr>
              <a:t> wR </a:t>
            </a:r>
            <a:r>
              <a:rPr lang="zh-CN" sz="1275">
                <a:solidFill>
                  <a:srgbClr val="8A94A6"/>
                </a:solidFill>
                <a:latin typeface="Source Han Sans SC"/>
                <a:ea typeface="Source Han Sans SC"/>
              </a:rPr>
              <a:t>偏高是设计使然而非缺陷。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1" name="" descr="&lt;Slide style={{ width: 1280, height: 720, backgroundColor: '#0B3C6E', backgroundImage: 'linear-gradient(135deg, #0B3C6E 0%, #1A5FA0 100%)', fontFamily: &quot;'Source Han Sans SC','Microsoft YaHei',sans-serif&quot;, position: 'relative' }}&gt;&#10;  &lt;Box style={{ position: 'absolute', left: 0, top: 240, width: 1280, flexDirection: 'column', alignItems: 'center' }}&gt;&#10;    &lt;Text style={{ fontSize: 48, fontWeight: 'bold', color: '#FFFFFF' }}&gt;装载数据，找到物相，精修到位&lt;/Text&gt;&#10;    &lt;Text style={{ fontSize: 24, color: 'rgba(255,255,255,0.85)', marginTop: 28 }}&gt;五分钟完成你的第一份 XRD 分析报告&lt;/Text&gt;&#10;    &lt;Text style={{ fontSize: 18, color: 'rgba(255,255,255,0.6)', marginTop: 48 }}&gt;详细操作与原理请查阅《PolyXRD 使用手册 v0.15.0》 · PolyXRD 项目组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3C6E"/>
              </a:gs>
              <a:gs pos="100000">
                <a:srgbClr val="1A5FA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895600" y="2286000"/>
            <a:ext cx="64008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装载数据，找到物相，精修到位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191000" y="31051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五分钟完成你的第一份</a:t>
            </a:r>
            <a:r>
              <a:rPr lang="en-US" sz="18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XRD </a:t>
            </a:r>
            <a:r>
              <a:rPr lang="zh-CN" sz="180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分析报告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333750" y="3838575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详细操作与原理请查阅《</a:t>
            </a: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PolyXRD 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使用手册</a:t>
            </a: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v0.15.0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》</a:t>
            </a:r>
            <a:r>
              <a:rPr lang="en-US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· PolyXRD </a:t>
            </a:r>
            <a:r>
              <a:rPr lang="zh-CN" sz="135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项目组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7" name="" descr="&lt;Slide style={{ width: 1280, height: 720, backgroundColor: '#FFFFFF', fontFamily: &quot;'Source Han Sans SC','Microsoft YaHei',sans-serif&quot;, flexDirection: 'column' }}&gt;&#10;  &lt;Box style={{ height: 120, flexDirection: 'row', alignItems: 'center', paddingLeft: 60, paddingRight: 60, justifyContent: 'space-between' }}&gt;&#10;    &lt;Text style={{ fontSize: 36, fontWeight: 'bold', color: '#0B3C6E' }}&gt;数据库与常见问题&lt;/Text&gt;&#10;    &lt;Text style={{ fontSize: 16, color: '#8A94A6' }}&gt;第三章 · 原理与支持&lt;/Text&gt;&#10;  &lt;/Box&gt;&#10;  &lt;Box style={{ flexDirection: 'row', height: 540 }}&gt;&#10;    &lt;Box style={{ width: 340, height: 540, backgroundColor: '#0B3C6E', padding: '40px 30px', flexDirection: 'column', justifyContent: 'space-between' }}&gt;&#10;      &lt;Text style={{ fontSize: 30, fontWeight: 'bold', color: '#FFFFFF' }}&gt;五库分工&lt;br /&gt;各司其职&lt;/Text&gt;&#10;      &lt;Text style={{ fontSize: 17, color: 'rgba(255,255,255,0.8)', lineHeight: 1.6 }}&gt;检索走对应库，识别精度与速度兼得；高频问题先查右侧速查表，多数一分钟内可自行解决。&lt;/Text&gt;&#10;    &lt;/Box&gt;&#10;    &lt;Box style={{ width: 940, height: 540, paddingLeft: 40, paddingTop: 20, paddingRight: 60, flexDirection: 'column', gap: 14 }}&gt;&#10;      &lt;Box style={{ flexDirection: 'row', gap: 20 }}&gt;&#10;        &lt;Box style={{ width: 460, flexDirection: 'column', gap: 8 }}&gt;&#10;          &lt;Text style={{ fontSize: 20, fontWeight: 'bold', color: '#0B3C6E' }}&gt;五个衍射数据库&lt;/Text&gt;&#10;          &lt;Text style={{ fontSize: 16, color: '#333333', lineHeight: 1.55 }}&gt;· COD 无机库：物相鉴定的主力检索库&lt;br /&gt;· COD 索引库：峰位快速检索（精简索引）&lt;br /&gt;· PDF2-2004：经典卡片库（需正版授权，仅本地）&lt;br /&gt;· 内置矿物库：常见矿物的优先快速通道&lt;br /&gt;· 用户自建库：导入自定义 CIF 持续积累&lt;/Text&gt;&#10;        &lt;/Box&gt;&#10;        &lt;Box style={{ width: 360, justifyContent: 'center' }}&gt;&#10;          &lt;Image src=&quot;assets/09_database_manager.png&quot; style={{ width: 340, height: 237, objectFit: 'contain', border: '1px solid #C5D5E8', borderRadius: 8 }} /&gt;&#10;        &lt;/Box&gt;&#10;      &lt;/Box&gt;&#10;      &lt;Text style={{ fontSize: 20, fontWeight: 'bold', color: '#0B3C6E', marginTop: 4 }}&gt;高频 FAQ&lt;/Text&gt;&#10;      &lt;Text style={{ fontSize: 16, color: '#333333', lineHeight: 1.55 }}&gt;&lt;span style={{ fontWeight: 'bold', color: '#2F8F4E' }}&gt;外部引擎红灯 →&lt;/span&gt; 「数据库→外部程序」手动指定路径后点「验证」，或点「检测」自动定位。&lt;br /&gt;&lt;span style={{ fontWeight: 'bold', color: '#2F8F4E' }}&gt;鉴定结果为空 →&lt;/span&gt; 先确认已扣背景；峰少于 5 个时放宽信噪比阈值。&lt;br /&gt;&lt;span style={{ fontWeight: 'bold', color: '#2F8F4E' }}&gt;窗口布局乱了 →&lt;/span&gt; v0.15 起损坏的旧布局会自动作废重建；也可删除 ~/.polyxrd 下布局配置重置。&lt;/Text&gt;&#10;    &lt;/Box&gt;&#10;  &lt;/Box&gt;&#10;  &lt;Box style={{ height: 60, flexDirection: 'row', alignItems: 'center', justifyContent: 'space-between', paddingLeft: 60, paddingRight: 60 }}&gt;&#10;    &lt;Text style={{ fontSize: 14, color: '#8A94A6' }}&gt;PolyXRD v0.15.0 使用手册&lt;/Text&gt;&#10;    &lt;Text style={{ fontSize: 14, color: '#8A94A6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3619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3C6E"/>
                </a:solidFill>
                <a:latin typeface="Source Han Sans SC"/>
                <a:ea typeface="Source Han Sans SC"/>
              </a:rPr>
              <a:t>数据库与常见问题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267950" y="47625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第三章</a:t>
            </a:r>
            <a:r>
              <a:rPr lang="en-US" sz="1200">
                <a:solidFill>
                  <a:srgbClr val="8A94A6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8A94A6"/>
                </a:solidFill>
                <a:latin typeface="Source Han Sans SC"/>
                <a:ea typeface="Source Han Sans SC"/>
              </a:rPr>
              <a:t>原理与支持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0" y="1143000"/>
            <a:ext cx="3238500" cy="5143500"/>
          </a:xfrm>
          <a:prstGeom prst="rect">
            <a:avLst/>
          </a:prstGeom>
          <a:solidFill>
            <a:srgbClr val="0B3C6E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285750" y="1524000"/>
            <a:ext cx="26670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五库分工</a:t>
            </a:r>
            <a:endParaRPr/>
          </a:p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各司其职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285750" y="4972050"/>
            <a:ext cx="2667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检索走对应库，识别精度与速度兼得；高频问题先查右侧速查表，多数一分钟内可自行解决。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619500" y="13335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五个衍射数据库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619500" y="1638300"/>
            <a:ext cx="4381500" cy="1419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· COD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无机库：物相鉴定的主力检索库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· COD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索引库：峰位快速检索（精简索引）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· PDF2-2004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：经典卡片库（需正版授权，仅本地）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内置矿物库：常见矿物的优先快速通道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用户自建库：导入自定义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CIF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持续积累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8191500" y="1333500"/>
            <a:ext cx="3238500" cy="2257425"/>
          </a:xfrm>
          <a:prstGeom prst="rect">
            <a:avLst/>
          </a:prstGeom>
          <a:ln w="12700">
            <a:solidFill>
              <a:srgbClr val="C5D5E8"/>
            </a:solidFill>
            <a:prstDash val="solid"/>
          </a:ln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 r:embed="rId1"/>
          <a:srcRect l="0" t="44" r="0" b="44"/>
          <a:stretch>
            <a:fillRect/>
          </a:stretch>
        </p:blipFill>
        <p:spPr>
          <a:xfrm rot="0" flipH="0" flipV="0">
            <a:off x="8191500" y="1333500"/>
            <a:ext cx="3238500" cy="2257425"/>
          </a:xfrm>
          <a:prstGeom prst="roundRect">
            <a:avLst>
              <a:gd name="adj" fmla="val 3376"/>
            </a:avLst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619500" y="3762375"/>
            <a:ext cx="800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3C6E"/>
                </a:solidFill>
                <a:latin typeface="Source Han Sans SC"/>
                <a:ea typeface="Source Han Sans SC"/>
              </a:rPr>
              <a:t>高频</a:t>
            </a:r>
            <a:r>
              <a:rPr lang="en-US" sz="1500" b="1">
                <a:solidFill>
                  <a:srgbClr val="0B3C6E"/>
                </a:solidFill>
                <a:latin typeface="Source Han Sans SC"/>
                <a:ea typeface="Source Han Sans SC"/>
              </a:rPr>
              <a:t> FAQ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619500" y="4124325"/>
            <a:ext cx="8001000" cy="8572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F8F4E"/>
                </a:solidFill>
                <a:latin typeface="Source Han Sans SC"/>
                <a:ea typeface="Source Han Sans SC"/>
              </a:rPr>
              <a:t>外部引擎红灯</a:t>
            </a:r>
            <a:r>
              <a:rPr lang="en-US" sz="1200" b="1">
                <a:solidFill>
                  <a:srgbClr val="2F8F4E"/>
                </a:solidFill>
                <a:latin typeface="Source Han Sans SC"/>
                <a:ea typeface="Source Han Sans SC"/>
              </a:rPr>
              <a:t> →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「数据库→外部程序」手动指定路径后点「验证」，或点「检测」自动定位。</a:t>
            </a:r>
            <a:endParaRPr/>
          </a:p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F8F4E"/>
                </a:solidFill>
                <a:latin typeface="Source Han Sans SC"/>
                <a:ea typeface="Source Han Sans SC"/>
              </a:rPr>
              <a:t>鉴定结果为空</a:t>
            </a:r>
            <a:r>
              <a:rPr lang="en-US" sz="1200" b="1">
                <a:solidFill>
                  <a:srgbClr val="2F8F4E"/>
                </a:solidFill>
                <a:latin typeface="Source Han Sans SC"/>
                <a:ea typeface="Source Han Sans SC"/>
              </a:rPr>
              <a:t> →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先确认已扣背景；峰少于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5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个时放宽信噪比阈值。</a:t>
            </a:r>
            <a:endParaRPr/>
          </a:p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2F8F4E"/>
                </a:solidFill>
                <a:latin typeface="Source Han Sans SC"/>
                <a:ea typeface="Source Han Sans SC"/>
              </a:rPr>
              <a:t>窗口布局乱了</a:t>
            </a:r>
            <a:r>
              <a:rPr lang="en-US" sz="1200" b="1">
                <a:solidFill>
                  <a:srgbClr val="2F8F4E"/>
                </a:solidFill>
                <a:latin typeface="Source Han Sans SC"/>
                <a:ea typeface="Source Han Sans SC"/>
              </a:rPr>
              <a:t> →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v0.15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起损坏的旧布局会自动作废重建；也可删除</a:t>
            </a:r>
            <a:r>
              <a:rPr lang="en-US" sz="1200">
                <a:solidFill>
                  <a:srgbClr val="333333"/>
                </a:solidFill>
                <a:latin typeface="Source Han Sans SC"/>
                <a:ea typeface="Source Han Sans SC"/>
              </a:rPr>
              <a:t> ~/.polyxrd </a:t>
            </a:r>
            <a:r>
              <a:rPr lang="zh-CN" sz="1200">
                <a:solidFill>
                  <a:srgbClr val="333333"/>
                </a:solidFill>
                <a:latin typeface="Source Han Sans SC"/>
                <a:ea typeface="Source Han Sans SC"/>
              </a:rPr>
              <a:t>下布局配置重置。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PolyXRD v0.15.0 </a:t>
            </a:r>
            <a:r>
              <a:rPr lang="zh-CN" sz="1050">
                <a:solidFill>
                  <a:srgbClr val="8A94A6"/>
                </a:solidFill>
                <a:latin typeface="Source Han Sans SC"/>
                <a:ea typeface="Source Han Sans SC"/>
              </a:rPr>
              <a:t>使用手册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4A6"/>
                </a:solidFill>
                <a:latin typeface="Source Han Sans SC"/>
                <a:ea typeface="Source Han Sans SC"/>
              </a:rPr>
              <a:t>13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2026-09-20T12:08:42Z</dcterms:created>
  <dcterms:modified xsi:type="dcterms:W3CDTF">2026-09-20T12:08:42Z</dcterms:modified>
</cp:coreProperties>
</file>