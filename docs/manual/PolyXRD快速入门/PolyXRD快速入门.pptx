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9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2" Type="http://schemas.openxmlformats.org/officeDocument/2006/relationships/viewProps" Target="viewProps.xml" /><Relationship Id="rId11" Type="http://schemas.openxmlformats.org/officeDocument/2006/relationships/tableStyles" Target="tableStyle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backgroundColor: '#0B3C6E', position: 'relative', fontFamily: &quot;'Source Han Sans SC','Microsoft YaHei',sans-serif&quot; }}&gt;&#10;  &lt;Image src=&quot;assets/01_main_data_empty.png&quot; style={{ position: 'absolute', left: 0, top: 0, width: 1280, height: 720, objectFit: 'cover' }} /&gt;&#10;  &lt;Box style={{ position: 'absolute', left: 0, top: 0, width: 1280, height: 720, backgroundColor: 'rgba(6,30,60,0.66)' }} /&gt;&#10;  &lt;Box style={{ position: 'absolute', left: 80, top: 250, width: 820, flexDirection: 'column' }}&gt;&#10;    &lt;Text style={{ fontSize: 26, color: '#8FD4A8', letterSpacing: 8, fontWeight: 'bold' }}&gt;POLYXRD · 5 分钟上手&lt;/Text&gt;&#10;    &lt;Text style={{ fontSize: 76, color: '#FFFFFF', fontWeight: 'bold', marginTop: 18 }}&gt;快速入门&lt;/Text&gt;&#10;    &lt;Text style={{ fontSize: 24, color: 'rgba(255,255,255,0.88)', marginTop: 22 }}&gt;五步完成你的第一份物相分析报告 · v0.15.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3C6E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12325" r="0" b="12325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E3C">
              <a:alpha val="66000"/>
            </a:srgbClr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2381250"/>
            <a:ext cx="781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 spc="600">
                <a:solidFill>
                  <a:srgbClr val="8FD4A8"/>
                </a:solidFill>
                <a:latin typeface="Source Han Sans SC"/>
                <a:ea typeface="Source Han Sans SC"/>
              </a:rPr>
              <a:t>POLYXRD · 5 </a:t>
            </a:r>
            <a:r>
              <a:rPr lang="zh-CN" sz="1950" b="1" spc="600">
                <a:solidFill>
                  <a:srgbClr val="8FD4A8"/>
                </a:solidFill>
                <a:latin typeface="Source Han Sans SC"/>
                <a:ea typeface="Source Han Sans SC"/>
              </a:rPr>
              <a:t>分钟上手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2857500"/>
            <a:ext cx="78105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700" b="1">
                <a:solidFill>
                  <a:srgbClr val="FFFFFF"/>
                </a:solidFill>
                <a:latin typeface="Source Han Sans SC"/>
                <a:ea typeface="Source Han Sans SC"/>
              </a:rPr>
              <a:t>快速入门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943350"/>
            <a:ext cx="7810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FFFFF">
                    <a:alpha val="88000"/>
                  </a:srgbClr>
                </a:solidFill>
                <a:latin typeface="Source Han Sans SC"/>
                <a:ea typeface="Source Han Sans SC"/>
              </a:rPr>
              <a:t>五步完成你的第一份物相分析报告</a:t>
            </a:r>
            <a:r>
              <a:rPr lang="en-US" sz="1800">
                <a:solidFill>
                  <a:srgbClr val="FFFFFF">
                    <a:alpha val="88000"/>
                  </a:srgbClr>
                </a:solidFill>
                <a:latin typeface="Source Han Sans SC"/>
                <a:ea typeface="Source Han Sans SC"/>
              </a:rPr>
              <a:t> · v0.15.0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8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alignItems: 'center' }}&gt;&#10;    &lt;Text style={{ fontSize: 36, fontWeight: 'bold', color: '#0B3C6E' }}&gt;五步流程总览&lt;/Text&gt;&#10;  &lt;/Box&gt;&#10;  &lt;Box style={{ height: 540, flexDirection: 'column', paddingLeft: 60, paddingRight: 60, paddingTop: 60 }}&gt;&#10;    &lt;Box style={{ flexDirection: 'row', alignItems: 'center', gap: 6 }}&gt;&#10;      &lt;Box style={{ width: 192, height: 240, backgroundColor: '#E8F0F8', borderRadius: 12, padding: 20, flexDirection: 'column', justifyContent: 'space-between' }}&gt;&#10;        &lt;Text style={{ fontSize: 44, fontWeight: 'bold', color: '#2F8F4E' }}&gt;1&lt;/Text&gt;&#10;        &lt;Box style={{ flexDirection: 'column' }}&gt;&#10;          &lt;Text style={{ fontSize: 21, fontWeight: 'bold', color: '#0B3C6E' }}&gt;装载数据&lt;/Text&gt;&#10;          &lt;Text style={{ fontSize: 15, color: '#333333', lineHeight: 1.4, marginTop: 6 }}&gt;装载 .xy/.txt 数据，核对波长&lt;/Text&gt;&#10;        &lt;/Box&gt;&#10;      &lt;/Box&gt;&#10;      &lt;Text style={{ fontSize: 30, color: '#8A94A6' }}&gt;→&lt;/Text&gt;&#10;      &lt;Box style={{ width: 192, height: 240, backgroundColor: '#E8F0F8', borderRadius: 12, padding: 20, flexDirection: 'column', justifyContent: 'space-between' }}&gt;&#10;        &lt;Text style={{ fontSize: 44, fontWeight: 'bold', color: '#2F8F4E' }}&gt;2&lt;/Text&gt;&#10;        &lt;Box style={{ flexDirection: 'column' }}&gt;&#10;          &lt;Text style={{ fontSize: 21, fontWeight: 'bold', color: '#0B3C6E' }}&gt;扣背景找峰&lt;/Text&gt;&#10;          &lt;Text style={{ fontSize: 15, color: '#333333', lineHeight: 1.4, marginTop: 6 }}&gt;SNIP 扣背景 + 自动找峰&lt;/Text&gt;&#10;        &lt;/Box&gt;&#10;      &lt;/Box&gt;&#10;      &lt;Text style={{ fontSize: 30, color: '#8A94A6' }}&gt;→&lt;/Text&gt;&#10;      &lt;Box style={{ width: 192, height: 240, backgroundColor: '#E8F0F8', borderRadius: 12, padding: 20, flexDirection: 'column', justifyContent: 'space-between' }}&gt;&#10;        &lt;Text style={{ fontSize: 44, fontWeight: 'bold', color: '#2F8F4E' }}&gt;3&lt;/Text&gt;&#10;        &lt;Box style={{ flexDirection: 'column' }}&gt;&#10;          &lt;Text style={{ fontSize: 21, fontWeight: 'bold', color: '#0B3C6E' }}&gt;物相鉴定&lt;/Text&gt;&#10;          &lt;Text style={{ fontSize: 15, color: '#333333', lineHeight: 1.4, marginTop: 6 }}&gt;内置库检索，采纳候选相&lt;/Text&gt;&#10;        &lt;/Box&gt;&#10;      &lt;/Box&gt;&#10;      &lt;Text style={{ fontSize: 30, color: '#8A94A6' }}&gt;→&lt;/Text&gt;&#10;      &lt;Box style={{ width: 192, height: 240, backgroundColor: '#E8F0F8', borderRadius: 12, padding: 20, flexDirection: 'column', justifyContent: 'space-between' }}&gt;&#10;        &lt;Text style={{ fontSize: 44, fontWeight: 'bold', color: '#2F8F4E' }}&gt;4&lt;/Text&gt;&#10;        &lt;Box style={{ flexDirection: 'column' }}&gt;&#10;          &lt;Text style={{ fontSize: 21, fontWeight: 'bold', color: '#0B3C6E' }}&gt;结构精修&lt;/Text&gt;&#10;          &lt;Text style={{ fontSize: 15, color: '#333333', lineHeight: 1.4, marginTop: 6 }}&gt;一键精修得含量与指标&lt;/Text&gt;&#10;        &lt;/Box&gt;&#10;      &lt;/Box&gt;&#10;      &lt;Text style={{ fontSize: 30, color: '#8A94A6' }}&gt;→&lt;/Text&gt;&#10;      &lt;Box style={{ width: 192, height: 240, backgroundColor: '#0B3C6E', borderRadius: 12, padding: 20, flexDirection: 'column', justifyContent: 'space-between' }}&gt;&#10;        &lt;Text style={{ fontSize: 44, fontWeight: 'bold', color: '#8FD4A8' }}&gt;5&lt;/Text&gt;&#10;        &lt;Box style={{ flexDirection: 'column' }}&gt;&#10;          &lt;Text style={{ fontSize: 21, fontWeight: 'bold', color: '#FFFFFF' }}&gt;导出报告&lt;/Text&gt;&#10;          &lt;Text style={{ fontSize: 15, color: 'rgba(255,255,255,0.85)', lineHeight: 1.4, marginTop: 6 }}&gt;一键生成 HTML 分析报告&lt;/Text&gt;&#10;        &lt;/Box&gt;&#10;      &lt;/Box&gt;&#10;    &lt;/Box&gt;&#10;    &lt;Text style={{ fontSize: 20, color: '#333333', marginTop: 56, lineHeight: 1.6 }}&gt;全程 &lt;span style={{ fontWeight: 'bold', color: '#2F8F4E' }}&gt;≤ 10 分钟&lt;/span&gt;；每一步在界面上只需 1~2 次点击，参数保持默认即可完成标准流程。&lt;/Text&gt;&#10;  &lt;/Box&gt;&#10;  &lt;Box style={{ height: 60, flexDirection: 'row', alignItems: 'center', justifyContent: 'space-between', paddingLeft: 60, paddingRight: 60 }}&gt;&#10;    &lt;Text style={{ fontSize: 14, color: '#8A94A6' }}&gt;PolyXRD v0.15.0 快速入门&lt;/Text&gt;&#10;    &lt;Text style={{ fontSize: 14, color: '#8A94A6' }}&gt;02 / 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五步流程总览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571500" y="1714500"/>
            <a:ext cx="1828800" cy="2286000"/>
          </a:xfrm>
          <a:prstGeom prst="roundRect">
            <a:avLst>
              <a:gd name="adj" fmla="val 62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1447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F8F4E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3019425"/>
            <a:ext cx="1447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3C6E"/>
                </a:solidFill>
                <a:latin typeface="Source Han Sans SC"/>
                <a:ea typeface="Source Han Sans SC"/>
              </a:rPr>
              <a:t>装载数据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62000" y="3324225"/>
            <a:ext cx="1447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33333"/>
                </a:solidFill>
                <a:latin typeface="Source Han Sans SC"/>
                <a:ea typeface="Source Han Sans SC"/>
              </a:rPr>
              <a:t>装载</a:t>
            </a:r>
            <a:r>
              <a:rPr lang="en-US" sz="1125">
                <a:solidFill>
                  <a:srgbClr val="333333"/>
                </a:solidFill>
                <a:latin typeface="Source Han Sans SC"/>
                <a:ea typeface="Source Han Sans SC"/>
              </a:rPr>
              <a:t> .xy/.txt </a:t>
            </a:r>
            <a:r>
              <a:rPr lang="zh-CN" sz="1125">
                <a:solidFill>
                  <a:srgbClr val="333333"/>
                </a:solidFill>
                <a:latin typeface="Source Han Sans SC"/>
                <a:ea typeface="Source Han Sans SC"/>
              </a:rPr>
              <a:t>数据，核对波长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457450" y="268605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8A94A6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2800350" y="1714500"/>
            <a:ext cx="1828800" cy="2286000"/>
          </a:xfrm>
          <a:prstGeom prst="roundRect">
            <a:avLst>
              <a:gd name="adj" fmla="val 62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2990850" y="1905000"/>
            <a:ext cx="1447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F8F4E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2990850" y="3019425"/>
            <a:ext cx="1447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3C6E"/>
                </a:solidFill>
                <a:latin typeface="Source Han Sans SC"/>
                <a:ea typeface="Source Han Sans SC"/>
              </a:rPr>
              <a:t>扣背景找峰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990850" y="3324225"/>
            <a:ext cx="1447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125">
                <a:solidFill>
                  <a:srgbClr val="333333"/>
                </a:solidFill>
                <a:latin typeface="Source Han Sans SC"/>
                <a:ea typeface="Source Han Sans SC"/>
              </a:rPr>
              <a:t>SNIP </a:t>
            </a:r>
            <a:r>
              <a:rPr lang="zh-CN" sz="1125">
                <a:solidFill>
                  <a:srgbClr val="333333"/>
                </a:solidFill>
                <a:latin typeface="Source Han Sans SC"/>
                <a:ea typeface="Source Han Sans SC"/>
              </a:rPr>
              <a:t>扣背景</a:t>
            </a:r>
            <a:r>
              <a:rPr lang="en-US" sz="1125">
                <a:solidFill>
                  <a:srgbClr val="333333"/>
                </a:solidFill>
                <a:latin typeface="Source Han Sans SC"/>
                <a:ea typeface="Source Han Sans SC"/>
              </a:rPr>
              <a:t> + </a:t>
            </a:r>
            <a:r>
              <a:rPr lang="zh-CN" sz="1125">
                <a:solidFill>
                  <a:srgbClr val="333333"/>
                </a:solidFill>
                <a:latin typeface="Source Han Sans SC"/>
                <a:ea typeface="Source Han Sans SC"/>
              </a:rPr>
              <a:t>自动找峰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686300" y="268605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8A94A6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029200" y="1714500"/>
            <a:ext cx="1828800" cy="2286000"/>
          </a:xfrm>
          <a:prstGeom prst="roundRect">
            <a:avLst>
              <a:gd name="adj" fmla="val 62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219700" y="1905000"/>
            <a:ext cx="1447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F8F4E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219700" y="3019425"/>
            <a:ext cx="1447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3C6E"/>
                </a:solidFill>
                <a:latin typeface="Source Han Sans SC"/>
                <a:ea typeface="Source Han Sans SC"/>
              </a:rPr>
              <a:t>物相鉴定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219700" y="3324225"/>
            <a:ext cx="1447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33333"/>
                </a:solidFill>
                <a:latin typeface="Source Han Sans SC"/>
                <a:ea typeface="Source Han Sans SC"/>
              </a:rPr>
              <a:t>内置库检索，采纳候选相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915150" y="268605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8A94A6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258050" y="1714500"/>
            <a:ext cx="1828800" cy="2286000"/>
          </a:xfrm>
          <a:prstGeom prst="roundRect">
            <a:avLst>
              <a:gd name="adj" fmla="val 62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448550" y="1905000"/>
            <a:ext cx="1447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F8F4E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448550" y="3257550"/>
            <a:ext cx="1447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3C6E"/>
                </a:solidFill>
                <a:latin typeface="Source Han Sans SC"/>
                <a:ea typeface="Source Han Sans SC"/>
              </a:rPr>
              <a:t>结构精修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448550" y="3562350"/>
            <a:ext cx="14478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333333"/>
                </a:solidFill>
                <a:latin typeface="Source Han Sans SC"/>
                <a:ea typeface="Source Han Sans SC"/>
              </a:rPr>
              <a:t>一键精修得含量与指标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144000" y="268605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8A94A6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9486900" y="1714500"/>
            <a:ext cx="1828800" cy="2286000"/>
          </a:xfrm>
          <a:prstGeom prst="roundRect">
            <a:avLst>
              <a:gd name="adj" fmla="val 6250"/>
            </a:avLst>
          </a:prstGeom>
          <a:solidFill>
            <a:srgbClr val="0B3C6E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9677400" y="1905000"/>
            <a:ext cx="1447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8FD4A8"/>
                </a:solidFill>
                <a:latin typeface="Source Han Sans SC"/>
                <a:ea typeface="Source Han Sans SC"/>
              </a:rPr>
              <a:t>5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677400" y="3019425"/>
            <a:ext cx="1447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导出报告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9677400" y="3324225"/>
            <a:ext cx="1447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一键生成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 HTML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分析报告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71500" y="4533900"/>
            <a:ext cx="110490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333333"/>
                </a:solidFill>
                <a:latin typeface="Source Han Sans SC"/>
                <a:ea typeface="Source Han Sans SC"/>
              </a:rPr>
              <a:t>全程</a:t>
            </a:r>
            <a:r>
              <a:rPr lang="en-US" sz="1500">
                <a:solidFill>
                  <a:srgbClr val="333333"/>
                </a:solidFill>
                <a:latin typeface="Source Han Sans SC"/>
                <a:ea typeface="Source Han Sans SC"/>
              </a:rPr>
              <a:t> </a:t>
            </a:r>
            <a:r>
              <a:rPr lang="en-US" sz="1500" b="1">
                <a:solidFill>
                  <a:srgbClr val="2F8F4E"/>
                </a:solidFill>
                <a:latin typeface="Source Han Sans SC"/>
                <a:ea typeface="Source Han Sans SC"/>
              </a:rPr>
              <a:t>≤ 10 </a:t>
            </a:r>
            <a:r>
              <a:rPr lang="zh-CN" sz="1500" b="1">
                <a:solidFill>
                  <a:srgbClr val="2F8F4E"/>
                </a:solidFill>
                <a:latin typeface="Source Han Sans SC"/>
                <a:ea typeface="Source Han Sans SC"/>
              </a:rPr>
              <a:t>分钟</a:t>
            </a:r>
            <a:r>
              <a:rPr lang="zh-CN" sz="1500">
                <a:solidFill>
                  <a:srgbClr val="333333"/>
                </a:solidFill>
                <a:latin typeface="Source Han Sans SC"/>
                <a:ea typeface="Source Han Sans SC"/>
              </a:rPr>
              <a:t>；每一步在界面上只需</a:t>
            </a:r>
            <a:r>
              <a:rPr lang="en-US" sz="1500">
                <a:solidFill>
                  <a:srgbClr val="333333"/>
                </a:solidFill>
                <a:latin typeface="Source Han Sans SC"/>
                <a:ea typeface="Source Han Sans SC"/>
              </a:rPr>
              <a:t> 1~2 </a:t>
            </a:r>
            <a:r>
              <a:rPr lang="zh-CN" sz="1500">
                <a:solidFill>
                  <a:srgbClr val="333333"/>
                </a:solidFill>
                <a:latin typeface="Source Han Sans SC"/>
                <a:ea typeface="Source Han Sans SC"/>
              </a:rPr>
              <a:t>次点击，参数保持默认即可完成标准流程。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快速入门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249025" y="6496050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02 / 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8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alignItems: 'center', justifyContent: 'space-between' }}&gt;&#10;    &lt;Box style={{ flexDirection: 'row', alignItems: 'center', gap: 16 }}&gt;&#10;      &lt;Box style={{ width: 52, height: 52, backgroundColor: '#2F8F4E', borderRadius: 10, alignItems: 'center', justifyContent: 'center' }}&gt;&#10;        &lt;Text style={{ fontSize: 26, fontWeight: 'bold', color: '#FFFFFF' }}&gt;1&lt;/Text&gt;&#10;      &lt;/Box&gt;&#10;      &lt;Text style={{ fontSize: 36, fontWeight: 'bold', color: '#0B3C6E' }}&gt;装载数据&lt;/Text&gt;&#10;    &lt;/Box&gt;&#10;    &lt;Text style={{ fontSize: 16, color: '#8A94A6' }}&gt;数据页 · 装载文件&lt;/Text&gt;&#10;  &lt;/Box&gt;&#10;  &lt;Box style={{ flexDirection: 'row', height: 540, paddingLeft: 60 }}&gt;&#10;    &lt;Box style={{ width: 660, justifyContent: 'center' }}&gt;&#10;      &lt;Image src=&quot;assets/02_data_loaded.png&quot; style={{ width: 640, height: 480, objectFit: 'contain', border: '1px solid #C5D5E8', borderRadius: 8 }} /&gt;&#10;    &lt;/Box&gt;&#10;    &lt;Box style={{ width: 500, paddingLeft: 40, paddingRight: 60, paddingTop: 40, flexDirection: 'column', gap: 20 }}&gt;&#10;      &lt;Box style={{ backgroundColor: '#E8F0F8', borderRadius: 10, padding: 20 }}&gt;&#10;        &lt;Text style={{ fontSize: 19, color: '#333333', lineHeight: 1.6 }}&gt;&lt;span style={{ fontWeight: 'bold', color: '#0B3C6E' }}&gt;操作：&lt;/span&gt;数据页 → 「装载文件」→ 选择 .xy / .txt / .dat / .rdf 数据文件。&lt;/Text&gt;&#10;      &lt;/Box&gt;&#10;      &lt;Box style={{ backgroundColor: '#E8F0F8', borderRadius: 10, padding: 20 }}&gt;&#10;        &lt;Text style={{ fontSize: 19, color: '#333333', lineHeight: 1.6 }}&gt;&lt;span style={{ fontWeight: 'bold', color: '#0B3C6E' }}&gt;确认：&lt;/span&gt;波长默认 Cu Kα1（1.5406 Å），与实验靶材不符时在「波长」下拉切换。&lt;/Text&gt;&#10;      &lt;/Box&gt;&#10;      &lt;Box style={{ backgroundColor: '#FDF3E7', borderRadius: 10, padding: 20, border: '1px solid #D9822B' }}&gt;&#10;        &lt;Text style={{ fontSize: 19, color: '#8A5A1A', lineHeight: 1.6 }}&gt;&lt;span style={{ fontWeight: 'bold' }}&gt;关键：&lt;/span&gt;波长错了，找峰、鉴定、精修全部失真——装载后先核波长。&lt;/Text&gt;&#10;      &lt;/Box&gt;&#10;    &lt;/Box&gt;&#10;  &lt;/Box&gt;&#10;  &lt;Box style={{ height: 60, flexDirection: 'row', alignItems: 'center', justifyContent: 'space-between', paddingLeft: 60, paddingRight: 60 }}&gt;&#10;    &lt;Text style={{ fontSize: 14, color: '#8A94A6' }}&gt;PolyXRD v0.15.0 快速入门&lt;/Text&gt;&#10;    &lt;Text style={{ fontSize: 14, color: '#8A94A6' }}&gt;03 / 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571500" y="4191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F8F4E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21920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装载数据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420350" y="571500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数据页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装载文件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571500" y="1428750"/>
            <a:ext cx="6096000" cy="4572000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45" name=""/>
          <p:cNvPicPr>
            <a:picLocks noChangeAspect="1"/>
          </p:cNvPicPr>
          <p:nvPr/>
        </p:nvPicPr>
        <p:blipFill>
          <a:blip r:embed="rId1"/>
          <a:srcRect l="231" t="0" r="231" b="0"/>
          <a:stretch>
            <a:fillRect/>
          </a:stretch>
        </p:blipFill>
        <p:spPr>
          <a:xfrm rot="0" flipH="0" flipV="0">
            <a:off x="571500" y="1428750"/>
            <a:ext cx="6096000" cy="4572000"/>
          </a:xfrm>
          <a:prstGeom prst="roundRect">
            <a:avLst>
              <a:gd name="adj" fmla="val 1667"/>
            </a:avLst>
          </a:prstGeom>
          <a:ln/>
        </p:spPr>
      </p:pic>
      <p:sp>
        <p:nvSpPr>
          <p:cNvPr id="46" name=""/>
          <p:cNvSpPr/>
          <p:nvPr/>
        </p:nvSpPr>
        <p:spPr>
          <a:xfrm rot="0" flipH="0" flipV="0">
            <a:off x="7239000" y="1524000"/>
            <a:ext cx="3810000" cy="1076325"/>
          </a:xfrm>
          <a:prstGeom prst="roundRect">
            <a:avLst>
              <a:gd name="adj" fmla="val 88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429500" y="1714500"/>
            <a:ext cx="3429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操作：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数据页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「装载文件」→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选择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.xy / .txt / .dat / .rdf 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数据文件。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239000" y="2790825"/>
            <a:ext cx="3810000" cy="1076325"/>
          </a:xfrm>
          <a:prstGeom prst="roundRect">
            <a:avLst>
              <a:gd name="adj" fmla="val 88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429500" y="2981325"/>
            <a:ext cx="3429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确认：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波长默认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Cu Kα1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（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1.5406 Å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），与实验靶材不符时在「波长」下拉切换。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239000" y="4057650"/>
            <a:ext cx="3810000" cy="1076325"/>
          </a:xfrm>
          <a:prstGeom prst="roundRect">
            <a:avLst>
              <a:gd name="adj" fmla="val 8850"/>
            </a:avLst>
          </a:prstGeom>
          <a:solidFill>
            <a:srgbClr val="FDF3E7"/>
          </a:solidFill>
          <a:ln w="12700">
            <a:solidFill>
              <a:srgbClr val="D9822B"/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429500" y="4248150"/>
            <a:ext cx="3429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8A5A1A"/>
                </a:solidFill>
                <a:latin typeface="Source Han Sans SC"/>
                <a:ea typeface="Source Han Sans SC"/>
              </a:rPr>
              <a:t>关键：</a:t>
            </a:r>
            <a:r>
              <a:rPr lang="zh-CN" sz="1425">
                <a:solidFill>
                  <a:srgbClr val="8A5A1A"/>
                </a:solidFill>
                <a:latin typeface="Source Han Sans SC"/>
                <a:ea typeface="Source Han Sans SC"/>
              </a:rPr>
              <a:t>波长错了，找峰、鉴定、精修全部失真——装载后先核波长。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快速入门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249025" y="6496050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03 / 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4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alignItems: 'center', justifyContent: 'space-between' }}&gt;&#10;    &lt;Box style={{ flexDirection: 'row', alignItems: 'center', gap: 16 }}&gt;&#10;      &lt;Box style={{ width: 52, height: 52, backgroundColor: '#2F8F4E', borderRadius: 10, alignItems: 'center', justifyContent: 'center' }}&gt;&#10;        &lt;Text style={{ fontSize: 26, fontWeight: 'bold', color: '#FFFFFF' }}&gt;2&lt;/Text&gt;&#10;      &lt;/Box&gt;&#10;      &lt;Text style={{ fontSize: 36, fontWeight: 'bold', color: '#0B3C6E' }}&gt;扣背景与找峰&lt;/Text&gt;&#10;    &lt;/Box&gt;&#10;    &lt;Text style={{ fontSize: 16, color: '#8A94A6' }}&gt;物相页 · 处理&lt;/Text&gt;&#10;  &lt;/Box&gt;&#10;  &lt;Box style={{ flexDirection: 'column', height: 540, paddingLeft: 60, paddingRight: 60 }}&gt;&#10;    &lt;Image src=&quot;assets/03_phase_peaks.png&quot; style={{ width: 1160, height: 320, objectFit: 'contain', border: '1px solid #C5D5E8', borderRadius: 8 }} /&gt;&#10;    &lt;Box style={{ flexDirection: 'row', gap: 24, marginTop: 24 }}&gt;&#10;      &lt;Box style={{ width: 560, backgroundColor: '#E8F0F8', borderRadius: 10, padding: 20 }}&gt;&#10;        &lt;Text style={{ fontSize: 19, color: '#333333', lineHeight: 1.6 }}&gt;&lt;span style={{ fontWeight: 'bold', color: '#0B3C6E' }}&gt;操作：&lt;/span&gt;物相页 → 「处理」：先 SNIP 扣背景，再自动找峰。参数保持默认即可（信噪比 3、峰间距 0.5°）。&lt;/Text&gt;&#10;      &lt;/Box&gt;&#10;      &lt;Box style={{ width: 560, backgroundColor: '#E8F0F8', borderRadius: 10, padding: 20 }}&gt;&#10;        &lt;Text style={{ fontSize: 19, color: '#333333', lineHeight: 1.6 }}&gt;&lt;span style={{ fontWeight: 'bold', color: '#0B3C6E' }}&gt;确认：&lt;/span&gt;绿色竖线（峰位）对齐谱峰；弱峰漏找时放宽信噪比阈值重新找峰。&lt;/Text&gt;&#10;      &lt;/Box&gt;&#10;    &lt;/Box&gt;&#10;  &lt;/Box&gt;&#10;  &lt;Box style={{ height: 60, flexDirection: 'row', alignItems: 'center', justifyContent: 'space-between', paddingLeft: 60, paddingRight: 60 }}&gt;&#10;    &lt;Text style={{ fontSize: 14, color: '#8A94A6' }}&gt;PolyXRD v0.15.0 快速入门&lt;/Text&gt;&#10;    &lt;Text style={{ fontSize: 14, color: '#8A94A6' }}&gt;04 / 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571500" y="4191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F8F4E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219200" y="45720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扣背景与找峰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725150" y="57150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物相页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处理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71500" y="1143000"/>
            <a:ext cx="11049000" cy="3048000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61" name=""/>
          <p:cNvPicPr>
            <a:picLocks noChangeAspect="1"/>
          </p:cNvPicPr>
          <p:nvPr/>
        </p:nvPicPr>
        <p:blipFill>
          <a:blip r:embed="rId1"/>
          <a:srcRect l="0" t="31523" r="0" b="31523"/>
          <a:stretch>
            <a:fillRect/>
          </a:stretch>
        </p:blipFill>
        <p:spPr>
          <a:xfrm rot="0" flipH="0" flipV="0">
            <a:off x="571500" y="1143000"/>
            <a:ext cx="11049000" cy="3048000"/>
          </a:xfrm>
          <a:prstGeom prst="roundRect">
            <a:avLst>
              <a:gd name="adj" fmla="val 2500"/>
            </a:avLst>
          </a:prstGeom>
          <a:ln/>
        </p:spPr>
      </p:pic>
      <p:sp>
        <p:nvSpPr>
          <p:cNvPr id="62" name=""/>
          <p:cNvSpPr/>
          <p:nvPr/>
        </p:nvSpPr>
        <p:spPr>
          <a:xfrm rot="0" flipH="0" flipV="0">
            <a:off x="571500" y="4419600"/>
            <a:ext cx="5334000" cy="1076325"/>
          </a:xfrm>
          <a:prstGeom prst="roundRect">
            <a:avLst>
              <a:gd name="adj" fmla="val 88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62000" y="4610100"/>
            <a:ext cx="4953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操作：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物相页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「处理」：先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SNIP 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扣背景，再自动找峰。参数保持默认即可（信噪比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3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、峰间距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0.5°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134100" y="4419600"/>
            <a:ext cx="5334000" cy="1076325"/>
          </a:xfrm>
          <a:prstGeom prst="roundRect">
            <a:avLst>
              <a:gd name="adj" fmla="val 88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324600" y="4610100"/>
            <a:ext cx="4953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确认：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绿色竖线（峰位）对齐谱峰；弱峰漏找时放宽信噪比阈值重新找峰。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快速入门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249025" y="6496050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04 / 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8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alignItems: 'center', justifyContent: 'space-between' }}&gt;&#10;    &lt;Box style={{ flexDirection: 'row', alignItems: 'center', gap: 16 }}&gt;&#10;      &lt;Box style={{ width: 52, height: 52, backgroundColor: '#2F8F4E', borderRadius: 10, alignItems: 'center', justifyContent: 'center' }}&gt;&#10;        &lt;Text style={{ fontSize: 26, fontWeight: 'bold', color: '#FFFFFF' }}&gt;3&lt;/Text&gt;&#10;      &lt;/Box&gt;&#10;      &lt;Text style={{ fontSize: 36, fontWeight: 'bold', color: '#0B3C6E' }}&gt;物相鉴定&lt;/Text&gt;&#10;    &lt;/Box&gt;&#10;    &lt;Text style={{ fontSize: 16, color: '#8A94A6' }}&gt;物相页 · 鉴定&lt;/Text&gt;&#10;  &lt;/Box&gt;&#10;  &lt;Box style={{ flexDirection: 'row', height: 540, paddingLeft: 60, paddingRight: 60 }}&gt;&#10;    &lt;Box style={{ width: 500, paddingTop: 40, flexDirection: 'column', gap: 20 }}&gt;&#10;      &lt;Box style={{ backgroundColor: '#E8F0F8', borderRadius: 10, padding: 20 }}&gt;&#10;        &lt;Text style={{ fontSize: 19, color: '#333333', lineHeight: 1.6 }}&gt;&lt;span style={{ fontWeight: 'bold', color: '#0B3C6E' }}&gt;操作：&lt;/span&gt;物相页 → 「鉴定」→ 数据源选「内置库」→ 开始鉴定。&lt;/Text&gt;&#10;      &lt;/Box&gt;&#10;      &lt;Box style={{ backgroundColor: '#E8F0F8', borderRadius: 10, padding: 20 }}&gt;&#10;        &lt;Text style={{ fontSize: 19, color: '#333333', lineHeight: 1.6 }}&gt;&lt;span style={{ fontWeight: 'bold', color: '#0B3C6E' }}&gt;比对：&lt;/span&gt;候选按 FoM 排序，点选即在谱图叠加理论峰位（竖线）核对对齐。&lt;/Text&gt;&#10;      &lt;/Box&gt;&#10;      &lt;Box style={{ backgroundColor: '#E8F0F8', borderRadius: 10, padding: 20 }}&gt;&#10;        &lt;Text style={{ fontSize: 19, color: '#333333', lineHeight: 1.6 }}&gt;&lt;span style={{ fontWeight: 'bold', color: '#0B3C6E' }}&gt;采纳：&lt;/span&gt;点「采纳」加入物相列表；混合物逐条采纳，直至谱线基本对齐。&lt;/Text&gt;&#10;      &lt;/Box&gt;&#10;    &lt;/Box&gt;&#10;    &lt;Box style={{ width: 660, justifyContent: 'center' }}&gt;&#10;      &lt;Image src=&quot;assets/04_phase_identified.png&quot; style={{ width: 640, height: 480, objectFit: 'contain', border: '1px solid #C5D5E8', borderRadius: 8 }} /&gt;&#10;    &lt;/Box&gt;&#10;  &lt;/Box&gt;&#10;  &lt;Box style={{ height: 60, flexDirection: 'row', alignItems: 'center', justifyContent: 'space-between', paddingLeft: 60, paddingRight: 60 }}&gt;&#10;    &lt;Text style={{ fontSize: 14, color: '#8A94A6' }}&gt;PolyXRD v0.15.0 快速入门&lt;/Text&gt;&#10;    &lt;Text style={{ fontSize: 14, color: '#8A94A6' }}&gt;05 / 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571500" y="4191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F8F4E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21920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物相鉴定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0725150" y="57150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物相页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鉴定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571500" y="1524000"/>
            <a:ext cx="4762500" cy="1076325"/>
          </a:xfrm>
          <a:prstGeom prst="roundRect">
            <a:avLst>
              <a:gd name="adj" fmla="val 88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62000" y="1714500"/>
            <a:ext cx="4381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操作：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物相页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「鉴定」→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数据源选「内置库」→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开始鉴定。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71500" y="2790825"/>
            <a:ext cx="4762500" cy="1076325"/>
          </a:xfrm>
          <a:prstGeom prst="roundRect">
            <a:avLst>
              <a:gd name="adj" fmla="val 88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62000" y="2981325"/>
            <a:ext cx="4381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比对：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候选按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FoM 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排序，点选即在谱图叠加理论峰位（竖线）核对对齐。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71500" y="4057650"/>
            <a:ext cx="4762500" cy="1076325"/>
          </a:xfrm>
          <a:prstGeom prst="roundRect">
            <a:avLst>
              <a:gd name="adj" fmla="val 88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62000" y="4248150"/>
            <a:ext cx="4381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采纳：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点「采纳」加入物相列表；混合物逐条采纳，直至谱线基本对齐。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5334000" y="1428750"/>
            <a:ext cx="6096000" cy="4572000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81" name=""/>
          <p:cNvPicPr>
            <a:picLocks noChangeAspect="1"/>
          </p:cNvPicPr>
          <p:nvPr/>
        </p:nvPicPr>
        <p:blipFill>
          <a:blip r:embed="rId1"/>
          <a:srcRect l="231" t="0" r="231" b="0"/>
          <a:stretch>
            <a:fillRect/>
          </a:stretch>
        </p:blipFill>
        <p:spPr>
          <a:xfrm rot="0" flipH="0" flipV="0">
            <a:off x="5334000" y="1428750"/>
            <a:ext cx="6096000" cy="4572000"/>
          </a:xfrm>
          <a:prstGeom prst="roundRect">
            <a:avLst>
              <a:gd name="adj" fmla="val 1667"/>
            </a:avLst>
          </a:prstGeom>
          <a:ln/>
        </p:spPr>
      </p:pic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快速入门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249025" y="6496050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05 / 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4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alignItems: 'center', justifyContent: 'space-between' }}&gt;&#10;    &lt;Box style={{ flexDirection: 'row', alignItems: 'center', gap: 16 }}&gt;&#10;      &lt;Box style={{ width: 52, height: 52, backgroundColor: '#2F8F4E', borderRadius: 10, alignItems: 'center', justifyContent: 'center' }}&gt;&#10;        &lt;Text style={{ fontSize: 26, fontWeight: 'bold', color: '#FFFFFF' }}&gt;4&lt;/Text&gt;&#10;      &lt;/Box&gt;&#10;      &lt;Text style={{ fontSize: 36, fontWeight: 'bold', color: '#0B3C6E' }}&gt;结构精修&lt;/Text&gt;&#10;    &lt;/Box&gt;&#10;    &lt;Text style={{ fontSize: 16, color: '#8A94A6' }}&gt;精修页 · 开始精修&lt;/Text&gt;&#10;  &lt;/Box&gt;&#10;  &lt;Box style={{ flexDirection: 'row', height: 540, paddingLeft: 60, paddingRight: 60 }}&gt;&#10;    &lt;Box style={{ width: 460, flexDirection: 'column', paddingTop: 40, gap: 20 }}&gt;&#10;      &lt;Text style={{ fontSize: 96, fontWeight: 'bold', color: '#2F8F4E' }}&gt;4 引擎&lt;/Text&gt;&#10;      &lt;Text style={{ fontSize: 20, color: '#333333', lineHeight: 1.6 }}&gt;引擎选「内置 (builtin)」→「开始精修」：自动完成标度→背景→晶胞→峰形的保守精修，给出 &lt;span style={{ fontWeight: 'bold' }}&gt;Rwp&lt;/span&gt; 与逐相含量。&lt;/Text&gt;&#10;      &lt;Box style={{ backgroundColor: '#EEF7EE', borderRadius: 10, padding: 18, border: '1px solid #2F8F4E' }}&gt;&#10;        &lt;Text style={{ fontSize: 18, color: '#1F6636', lineHeight: 1.6 }}&gt;&lt;span style={{ fontWeight: 'bold' }}&gt;提示：&lt;/span&gt;内置引擎不精修原子坐标，wR 在 50%~90% 属正常；论文级结果切换 GSAS-II / MAUD / FullProf 外部引擎重跑。&lt;/Text&gt;&#10;      &lt;/Box&gt;&#10;    &lt;/Box&gt;&#10;    &lt;Box style={{ width: 680, justifyContent: 'center' }}&gt;&#10;      &lt;Image src=&quot;assets/06_refinement_done.png&quot; style={{ width: 680, height: 470, objectFit: 'contain', border: '1px solid #C5D5E8', borderRadius: 8 }} /&gt;&#10;      &lt;Text style={{ fontSize: 14, color: '#8A94A6', textAlign: 'center', marginTop: 6 }}&gt;精修完成：三引擎状态灯全绿，Rwp 与含量表就绪&lt;/Text&gt;&#10;    &lt;/Box&gt;&#10;  &lt;/Box&gt;&#10;  &lt;Box style={{ height: 60, flexDirection: 'row', alignItems: 'center', justifyContent: 'space-between', paddingLeft: 60, paddingRight: 60 }}&gt;&#10;    &lt;Text style={{ fontSize: 14, color: '#8A94A6' }}&gt;PolyXRD v0.15.0 快速入门&lt;/Text&gt;&#10;    &lt;Text style={{ fontSize: 14, color: '#8A94A6' }}&gt;06 / 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571500" y="4191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F8F4E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21920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结构精修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0420350" y="571500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精修页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开始精修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71500" y="1524000"/>
            <a:ext cx="4381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F8F4E"/>
                </a:solidFill>
                <a:latin typeface="Source Han Sans SC"/>
                <a:ea typeface="Source Han Sans SC"/>
              </a:rPr>
              <a:t>4 </a:t>
            </a:r>
            <a:r>
              <a:rPr lang="zh-CN" sz="7200" b="1">
                <a:solidFill>
                  <a:srgbClr val="2F8F4E"/>
                </a:solidFill>
                <a:latin typeface="Source Han Sans SC"/>
                <a:ea typeface="Source Han Sans SC"/>
              </a:rPr>
              <a:t>引擎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71500" y="2819400"/>
            <a:ext cx="43815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333333"/>
                </a:solidFill>
                <a:latin typeface="Source Han Sans SC"/>
                <a:ea typeface="Source Han Sans SC"/>
              </a:rPr>
              <a:t>引擎选「内置</a:t>
            </a:r>
            <a:r>
              <a:rPr lang="en-US" sz="1500">
                <a:solidFill>
                  <a:srgbClr val="333333"/>
                </a:solidFill>
                <a:latin typeface="Source Han Sans SC"/>
                <a:ea typeface="Source Han Sans SC"/>
              </a:rPr>
              <a:t> (builtin)</a:t>
            </a:r>
            <a:r>
              <a:rPr lang="zh-CN" sz="1500">
                <a:solidFill>
                  <a:srgbClr val="333333"/>
                </a:solidFill>
                <a:latin typeface="Source Han Sans SC"/>
                <a:ea typeface="Source Han Sans SC"/>
              </a:rPr>
              <a:t>」→「开始精修」：自动完成标度→背景→晶胞→峰形的保守精修，给出</a:t>
            </a:r>
            <a:r>
              <a:rPr lang="en-US" sz="1500">
                <a:solidFill>
                  <a:srgbClr val="333333"/>
                </a:solidFill>
                <a:latin typeface="Source Han Sans SC"/>
                <a:ea typeface="Source Han Sans SC"/>
              </a:rPr>
              <a:t> </a:t>
            </a:r>
            <a:r>
              <a:rPr lang="en-US" sz="1500" b="1">
                <a:solidFill>
                  <a:srgbClr val="333333"/>
                </a:solidFill>
                <a:latin typeface="Source Han Sans SC"/>
                <a:ea typeface="Source Han Sans SC"/>
              </a:rPr>
              <a:t>Rwp</a:t>
            </a:r>
            <a:r>
              <a:rPr lang="en-US" sz="1500">
                <a:solidFill>
                  <a:srgbClr val="333333"/>
                </a:solidFill>
                <a:latin typeface="Source Han Sans SC"/>
                <a:ea typeface="Source Han Sans SC"/>
              </a:rPr>
              <a:t> </a:t>
            </a:r>
            <a:r>
              <a:rPr lang="zh-CN" sz="1500">
                <a:solidFill>
                  <a:srgbClr val="333333"/>
                </a:solidFill>
                <a:latin typeface="Source Han Sans SC"/>
                <a:ea typeface="Source Han Sans SC"/>
              </a:rPr>
              <a:t>与逐相含量。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571500" y="4114800"/>
            <a:ext cx="4381500" cy="1333500"/>
          </a:xfrm>
          <a:prstGeom prst="roundRect">
            <a:avLst>
              <a:gd name="adj" fmla="val 7143"/>
            </a:avLst>
          </a:prstGeom>
          <a:solidFill>
            <a:srgbClr val="EEF7EE"/>
          </a:solidFill>
          <a:ln w="12700">
            <a:solidFill>
              <a:srgbClr val="2F8F4E"/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42950" y="4286250"/>
            <a:ext cx="40386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1F6636"/>
                </a:solidFill>
                <a:latin typeface="Source Han Sans SC"/>
                <a:ea typeface="Source Han Sans SC"/>
              </a:rPr>
              <a:t>提示：</a:t>
            </a:r>
            <a:r>
              <a:rPr lang="zh-CN" sz="1350">
                <a:solidFill>
                  <a:srgbClr val="1F6636"/>
                </a:solidFill>
                <a:latin typeface="Source Han Sans SC"/>
                <a:ea typeface="Source Han Sans SC"/>
              </a:rPr>
              <a:t>内置引擎不精修原子坐标，</a:t>
            </a:r>
            <a:r>
              <a:rPr lang="en-US" sz="1350">
                <a:solidFill>
                  <a:srgbClr val="1F6636"/>
                </a:solidFill>
                <a:latin typeface="Source Han Sans SC"/>
                <a:ea typeface="Source Han Sans SC"/>
              </a:rPr>
              <a:t>wR </a:t>
            </a:r>
            <a:r>
              <a:rPr lang="zh-CN" sz="1350">
                <a:solidFill>
                  <a:srgbClr val="1F6636"/>
                </a:solidFill>
                <a:latin typeface="Source Han Sans SC"/>
                <a:ea typeface="Source Han Sans SC"/>
              </a:rPr>
              <a:t>在</a:t>
            </a:r>
            <a:r>
              <a:rPr lang="en-US" sz="1350">
                <a:solidFill>
                  <a:srgbClr val="1F6636"/>
                </a:solidFill>
                <a:latin typeface="Source Han Sans SC"/>
                <a:ea typeface="Source Han Sans SC"/>
              </a:rPr>
              <a:t> 50%~90% </a:t>
            </a:r>
            <a:r>
              <a:rPr lang="zh-CN" sz="1350">
                <a:solidFill>
                  <a:srgbClr val="1F6636"/>
                </a:solidFill>
                <a:latin typeface="Source Han Sans SC"/>
                <a:ea typeface="Source Han Sans SC"/>
              </a:rPr>
              <a:t>属正常；论文级结果切换</a:t>
            </a:r>
            <a:r>
              <a:rPr lang="en-US" sz="1350">
                <a:solidFill>
                  <a:srgbClr val="1F6636"/>
                </a:solidFill>
                <a:latin typeface="Source Han Sans SC"/>
                <a:ea typeface="Source Han Sans SC"/>
              </a:rPr>
              <a:t> GSAS-II / MAUD / FullProf </a:t>
            </a:r>
            <a:r>
              <a:rPr lang="zh-CN" sz="1350">
                <a:solidFill>
                  <a:srgbClr val="1F6636"/>
                </a:solidFill>
                <a:latin typeface="Source Han Sans SC"/>
                <a:ea typeface="Source Han Sans SC"/>
              </a:rPr>
              <a:t>外部引擎重跑。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4953000" y="1371600"/>
            <a:ext cx="6477000" cy="4476750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95" name=""/>
          <p:cNvPicPr>
            <a:picLocks noChangeAspect="1"/>
          </p:cNvPicPr>
          <p:nvPr/>
        </p:nvPicPr>
        <p:blipFill>
          <a:blip r:embed="rId1"/>
          <a:srcRect l="0" t="3707" r="0" b="3707"/>
          <a:stretch>
            <a:fillRect/>
          </a:stretch>
        </p:blipFill>
        <p:spPr>
          <a:xfrm rot="0" flipH="0" flipV="0">
            <a:off x="4953000" y="1371600"/>
            <a:ext cx="6477000" cy="4476750"/>
          </a:xfrm>
          <a:prstGeom prst="roundRect">
            <a:avLst>
              <a:gd name="adj" fmla="val 1702"/>
            </a:avLst>
          </a:prstGeom>
          <a:ln/>
        </p:spPr>
      </p:pic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953000" y="5905500"/>
            <a:ext cx="64770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精修完成：三引擎状态灯全绿，</a:t>
            </a: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Rwp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与含量表就绪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快速入门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249025" y="6496050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06 / 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9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alignItems: 'center', justifyContent: 'space-between' }}&gt;&#10;    &lt;Box style={{ flexDirection: 'row', alignItems: 'center', gap: 16 }}&gt;&#10;      &lt;Box style={{ width: 52, height: 52, backgroundColor: '#2F8F4E', borderRadius: 10, alignItems: 'center', justifyContent: 'center' }}&gt;&#10;        &lt;Text style={{ fontSize: 26, fontWeight: 'bold', color: '#FFFFFF' }}&gt;5&lt;/Text&gt;&#10;      &lt;/Box&gt;&#10;      &lt;Text style={{ fontSize: 36, fontWeight: 'bold', color: '#0B3C6E' }}&gt;导出报告&lt;/Text&gt;&#10;    &lt;/Box&gt;&#10;    &lt;Text style={{ fontSize: 16, color: '#8A94A6' }}&gt;报告页 · 生成报告&lt;/Text&gt;&#10;  &lt;/Box&gt;&#10;  &lt;Box style={{ flexDirection: 'row', height: 540, paddingLeft: 60, paddingRight: 60 }}&gt;&#10;    &lt;Box style={{ width: 640, flexDirection: 'column', justifyContent: 'center', gap: 12 }}&gt;&#10;      &lt;Image src=&quot;assets/07_report_page.png&quot; style={{ width: 640, height: 440, objectFit: 'contain', border: '1px solid #C5D5E8', borderRadius: 8 }} /&gt;&#10;      &lt;Text style={{ fontSize: 15, color: '#8A94A6', textAlign: 'center' }}&gt;报告含谱图（观测/计算/差值线）、物相列表、含量表与 Rwp 指标&lt;/Text&gt;&#10;    &lt;/Box&gt;&#10;    &lt;Box style={{ width: 460, paddingLeft: 40, paddingTop: 40, flexDirection: 'column', gap: 16 }}&gt;&#10;      &lt;Text style={{ fontSize: 22, fontWeight: 'bold', color: '#0B3C6E' }}&gt;高频问题速查&lt;/Text&gt;&#10;      &lt;Box style={{ backgroundColor: '#E8F0F8', borderRadius: 10, padding: 16 }}&gt;&#10;        &lt;Text style={{ fontSize: 16.5, color: '#333333', lineHeight: 1.55 }}&gt;&lt;span style={{ fontWeight: 'bold', color: '#2F8F4E' }}&gt;外部引擎红灯&lt;/span&gt;&lt;br /&gt;「数据库→外部程序」配置或「检测」路径。&lt;/Text&gt;&#10;      &lt;/Box&gt;&#10;      &lt;Box style={{ backgroundColor: '#E8F0F8', borderRadius: 10, padding: 16 }}&gt;&#10;        &lt;Text style={{ fontSize: 16.5, color: '#333333', lineHeight: 1.55 }}&gt;&lt;span style={{ fontWeight: 'bold', color: '#2F8F4E' }}&gt;鉴定结果为空&lt;/span&gt;&lt;br /&gt;先扣背景；峰少于 5 个时放宽信噪比阈值。&lt;/Text&gt;&#10;      &lt;/Box&gt;&#10;      &lt;Box style={{ backgroundColor: '#E8F0F8', borderRadius: 10, padding: 16 }}&gt;&#10;        &lt;Text style={{ fontSize: 16.5, color: '#333333', lineHeight: 1.55 }}&gt;&lt;span style={{ fontWeight: 'bold', color: '#2F8F4E' }}&gt;精修 Rwp 不降&lt;/span&gt;&lt;br /&gt;先只精修标度+背景；删掉多余的采纳物相。&lt;/Text&gt;&#10;      &lt;/Box&gt;&#10;    &lt;/Box&gt;&#10;  &lt;/Box&gt;&#10;  &lt;Box style={{ height: 60, flexDirection: 'row', alignItems: 'center', justifyContent: 'space-between', paddingLeft: 60, paddingRight: 60 }}&gt;&#10;    &lt;Text style={{ fontSize: 14, color: '#8A94A6' }}&gt;PolyXRD v0.15.0 快速入门&lt;/Text&gt;&#10;    &lt;Text style={{ fontSize: 14, color: '#8A94A6' }}&gt;07 / 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571500" y="4191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F8F4E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42950" y="514350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Source Han Sans SC"/>
                <a:ea typeface="Source Han Sans SC"/>
              </a:rPr>
              <a:t>5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21920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导出报告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420350" y="571500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报告页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生成报告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571500" y="1476375"/>
            <a:ext cx="6096000" cy="4191000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106" name=""/>
          <p:cNvPicPr>
            <a:picLocks noChangeAspect="1"/>
          </p:cNvPicPr>
          <p:nvPr/>
        </p:nvPicPr>
        <p:blipFill>
          <a:blip r:embed="rId1"/>
          <a:srcRect l="0" t="3953" r="0" b="3953"/>
          <a:stretch>
            <a:fillRect/>
          </a:stretch>
        </p:blipFill>
        <p:spPr>
          <a:xfrm rot="0" flipH="0" flipV="0">
            <a:off x="571500" y="1476375"/>
            <a:ext cx="6096000" cy="4191000"/>
          </a:xfrm>
          <a:prstGeom prst="roundRect">
            <a:avLst>
              <a:gd name="adj" fmla="val 1818"/>
            </a:avLst>
          </a:prstGeom>
          <a:ln/>
        </p:spPr>
      </p:pic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71500" y="5781675"/>
            <a:ext cx="60960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8A94A6"/>
                </a:solidFill>
                <a:latin typeface="Source Han Sans SC"/>
                <a:ea typeface="Source Han Sans SC"/>
              </a:rPr>
              <a:t>报告含谱图（观测</a:t>
            </a:r>
            <a:r>
              <a:rPr lang="en-US" sz="1125">
                <a:solidFill>
                  <a:srgbClr val="8A94A6"/>
                </a:solidFill>
                <a:latin typeface="Source Han Sans SC"/>
                <a:ea typeface="Source Han Sans SC"/>
              </a:rPr>
              <a:t>/</a:t>
            </a:r>
            <a:r>
              <a:rPr lang="zh-CN" sz="1125">
                <a:solidFill>
                  <a:srgbClr val="8A94A6"/>
                </a:solidFill>
                <a:latin typeface="Source Han Sans SC"/>
                <a:ea typeface="Source Han Sans SC"/>
              </a:rPr>
              <a:t>计算</a:t>
            </a:r>
            <a:r>
              <a:rPr lang="en-US" sz="1125">
                <a:solidFill>
                  <a:srgbClr val="8A94A6"/>
                </a:solidFill>
                <a:latin typeface="Source Han Sans SC"/>
                <a:ea typeface="Source Han Sans SC"/>
              </a:rPr>
              <a:t>/</a:t>
            </a:r>
            <a:r>
              <a:rPr lang="zh-CN" sz="1125">
                <a:solidFill>
                  <a:srgbClr val="8A94A6"/>
                </a:solidFill>
                <a:latin typeface="Source Han Sans SC"/>
                <a:ea typeface="Source Han Sans SC"/>
              </a:rPr>
              <a:t>差值线）、物相列表、含量表与</a:t>
            </a:r>
            <a:r>
              <a:rPr lang="en-US" sz="1125">
                <a:solidFill>
                  <a:srgbClr val="8A94A6"/>
                </a:solidFill>
                <a:latin typeface="Source Han Sans SC"/>
                <a:ea typeface="Source Han Sans SC"/>
              </a:rPr>
              <a:t> Rwp </a:t>
            </a:r>
            <a:r>
              <a:rPr lang="zh-CN" sz="1125">
                <a:solidFill>
                  <a:srgbClr val="8A94A6"/>
                </a:solidFill>
                <a:latin typeface="Source Han Sans SC"/>
                <a:ea typeface="Source Han Sans SC"/>
              </a:rPr>
              <a:t>指标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048500" y="152400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3C6E"/>
                </a:solidFill>
                <a:latin typeface="Source Han Sans SC"/>
                <a:ea typeface="Source Han Sans SC"/>
              </a:rPr>
              <a:t>高频问题速查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7048500" y="1933575"/>
            <a:ext cx="4000500" cy="895350"/>
          </a:xfrm>
          <a:prstGeom prst="roundRect">
            <a:avLst>
              <a:gd name="adj" fmla="val 10638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200900" y="2085975"/>
            <a:ext cx="3695700" cy="590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38" b="1">
                <a:solidFill>
                  <a:srgbClr val="2F8F4E"/>
                </a:solidFill>
                <a:latin typeface="Source Han Sans SC"/>
                <a:ea typeface="Source Han Sans SC"/>
              </a:rPr>
              <a:t>外部引擎红灯</a:t>
            </a:r>
            <a:endParaRPr/>
          </a:p>
          <a:p>
            <a:pPr>
              <a:lnSpc>
                <a:spcPct val="155000"/>
              </a:lnSpc>
            </a:pPr>
            <a:r>
              <a:rPr lang="zh-CN" sz="1238">
                <a:solidFill>
                  <a:srgbClr val="333333"/>
                </a:solidFill>
                <a:latin typeface="Source Han Sans SC"/>
                <a:ea typeface="Source Han Sans SC"/>
              </a:rPr>
              <a:t>「数据库→外部程序」配置或「检测」路径。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7048500" y="2981325"/>
            <a:ext cx="4000500" cy="895350"/>
          </a:xfrm>
          <a:prstGeom prst="roundRect">
            <a:avLst>
              <a:gd name="adj" fmla="val 10638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200900" y="3133725"/>
            <a:ext cx="3695700" cy="590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38" b="1">
                <a:solidFill>
                  <a:srgbClr val="2F8F4E"/>
                </a:solidFill>
                <a:latin typeface="Source Han Sans SC"/>
                <a:ea typeface="Source Han Sans SC"/>
              </a:rPr>
              <a:t>鉴定结果为空</a:t>
            </a:r>
            <a:endParaRPr/>
          </a:p>
          <a:p>
            <a:pPr>
              <a:lnSpc>
                <a:spcPct val="155000"/>
              </a:lnSpc>
            </a:pPr>
            <a:r>
              <a:rPr lang="zh-CN" sz="1238">
                <a:solidFill>
                  <a:srgbClr val="333333"/>
                </a:solidFill>
                <a:latin typeface="Source Han Sans SC"/>
                <a:ea typeface="Source Han Sans SC"/>
              </a:rPr>
              <a:t>先扣背景；峰少于</a:t>
            </a:r>
            <a:r>
              <a:rPr lang="en-US" sz="1238">
                <a:solidFill>
                  <a:srgbClr val="333333"/>
                </a:solidFill>
                <a:latin typeface="Source Han Sans SC"/>
                <a:ea typeface="Source Han Sans SC"/>
              </a:rPr>
              <a:t> 5 </a:t>
            </a:r>
            <a:r>
              <a:rPr lang="zh-CN" sz="1238">
                <a:solidFill>
                  <a:srgbClr val="333333"/>
                </a:solidFill>
                <a:latin typeface="Source Han Sans SC"/>
                <a:ea typeface="Source Han Sans SC"/>
              </a:rPr>
              <a:t>个时放宽信噪比阈值。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7048500" y="4029075"/>
            <a:ext cx="4000500" cy="895350"/>
          </a:xfrm>
          <a:prstGeom prst="roundRect">
            <a:avLst>
              <a:gd name="adj" fmla="val 10638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200900" y="4181475"/>
            <a:ext cx="3695700" cy="590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38" b="1">
                <a:solidFill>
                  <a:srgbClr val="2F8F4E"/>
                </a:solidFill>
                <a:latin typeface="Source Han Sans SC"/>
                <a:ea typeface="Source Han Sans SC"/>
              </a:rPr>
              <a:t>精修</a:t>
            </a:r>
            <a:r>
              <a:rPr lang="en-US" sz="1238" b="1">
                <a:solidFill>
                  <a:srgbClr val="2F8F4E"/>
                </a:solidFill>
                <a:latin typeface="Source Han Sans SC"/>
                <a:ea typeface="Source Han Sans SC"/>
              </a:rPr>
              <a:t> Rwp </a:t>
            </a:r>
            <a:r>
              <a:rPr lang="zh-CN" sz="1238" b="1">
                <a:solidFill>
                  <a:srgbClr val="2F8F4E"/>
                </a:solidFill>
                <a:latin typeface="Source Han Sans SC"/>
                <a:ea typeface="Source Han Sans SC"/>
              </a:rPr>
              <a:t>不降</a:t>
            </a:r>
            <a:endParaRPr/>
          </a:p>
          <a:p>
            <a:pPr>
              <a:lnSpc>
                <a:spcPct val="155000"/>
              </a:lnSpc>
            </a:pPr>
            <a:r>
              <a:rPr lang="zh-CN" sz="1238">
                <a:solidFill>
                  <a:srgbClr val="333333"/>
                </a:solidFill>
                <a:latin typeface="Source Han Sans SC"/>
                <a:ea typeface="Source Han Sans SC"/>
              </a:rPr>
              <a:t>先只精修标度</a:t>
            </a:r>
            <a:r>
              <a:rPr lang="en-US" sz="1238">
                <a:solidFill>
                  <a:srgbClr val="333333"/>
                </a:solidFill>
                <a:latin typeface="Source Han Sans SC"/>
                <a:ea typeface="Source Han Sans SC"/>
              </a:rPr>
              <a:t>+</a:t>
            </a:r>
            <a:r>
              <a:rPr lang="zh-CN" sz="1238">
                <a:solidFill>
                  <a:srgbClr val="333333"/>
                </a:solidFill>
                <a:latin typeface="Source Han Sans SC"/>
                <a:ea typeface="Source Han Sans SC"/>
              </a:rPr>
              <a:t>背景；删掉多余的采纳物相。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快速入门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249025" y="6496050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07 / 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17" name="" descr="&lt;Slide style={{ width: 1280, height: 720, backgroundColor: '#0B3C6E', backgroundImage: 'linear-gradient(135deg, #0B3C6E 0%, #1A5FA0 100%)', fontFamily: &quot;'Source Han Sans SC','Microsoft YaHei',sans-serif&quot;, position: 'relative' }}&gt;&#10;  &lt;Box style={{ position: 'absolute', left: 0, top: 250, width: 1280, flexDirection: 'column', alignItems: 'center' }}&gt;&#10;    &lt;Text style={{ fontSize: 48, fontWeight: 'bold', color: '#FFFFFF' }}&gt;你的第一份分析报告已经到手&lt;/Text&gt;&#10;    &lt;Text style={{ fontSize: 22, color: 'rgba(255,255,255,0.85)', marginTop: 28 }}&gt;多步精修向导、外置引擎与原理详解，见《PolyXRD 使用手册 v0.15.0》&lt;/Text&gt;&#10;    &lt;Text style={{ fontSize: 18, color: 'rgba(255,255,255,0.6)', marginTop: 44 }}&gt;PolyXRD 项目组 · 2026 年 9 月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3C6E"/>
              </a:gs>
              <a:gs pos="100000">
                <a:srgbClr val="1A5FA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3C6E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124200" y="2381250"/>
            <a:ext cx="59436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你的第一份分析报告已经到手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2743200" y="3200400"/>
            <a:ext cx="6715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多步精修向导、外置引擎与原理详解，见《</a:t>
            </a:r>
            <a:r>
              <a:rPr lang="en-US" sz="16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PolyXRD </a:t>
            </a:r>
            <a:r>
              <a:rPr lang="zh-CN" sz="16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使用手册</a:t>
            </a:r>
            <a:r>
              <a:rPr lang="en-US" sz="16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 v0.15.0</a:t>
            </a:r>
            <a:r>
              <a:rPr lang="zh-CN" sz="16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》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895850" y="3876675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PolyXRD </a:t>
            </a:r>
            <a:r>
              <a:rPr lang="zh-CN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项目组</a:t>
            </a:r>
            <a:r>
              <a:rPr lang="en-US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· 2026 </a:t>
            </a:r>
            <a:r>
              <a:rPr lang="zh-CN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年</a:t>
            </a:r>
            <a:r>
              <a:rPr lang="en-US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9 </a:t>
            </a:r>
            <a:r>
              <a:rPr lang="zh-CN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2026-09-20T12:13:01Z</dcterms:created>
  <dcterms:modified xsi:type="dcterms:W3CDTF">2026-09-20T12:13:01Z</dcterms:modified>
</cp:coreProperties>
</file>